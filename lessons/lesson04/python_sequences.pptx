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7"/>
  </p:notesMasterIdLst>
  <p:sldIdLst>
    <p:sldId id="256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9" r:id="rId44"/>
    <p:sldId id="370" r:id="rId45"/>
    <p:sldId id="371" r:id="rId46"/>
    <p:sldId id="372" r:id="rId47"/>
    <p:sldId id="373" r:id="rId48"/>
    <p:sldId id="374" r:id="rId49"/>
    <p:sldId id="375" r:id="rId50"/>
    <p:sldId id="376" r:id="rId51"/>
    <p:sldId id="377" r:id="rId52"/>
    <p:sldId id="378" r:id="rId53"/>
    <p:sldId id="379" r:id="rId54"/>
    <p:sldId id="380" r:id="rId55"/>
    <p:sldId id="382" r:id="rId56"/>
    <p:sldId id="383" r:id="rId57"/>
    <p:sldId id="384" r:id="rId58"/>
    <p:sldId id="386" r:id="rId59"/>
    <p:sldId id="387" r:id="rId60"/>
    <p:sldId id="389" r:id="rId61"/>
    <p:sldId id="390" r:id="rId62"/>
    <p:sldId id="391" r:id="rId63"/>
    <p:sldId id="392" r:id="rId64"/>
    <p:sldId id="393" r:id="rId65"/>
    <p:sldId id="394" r:id="rId66"/>
    <p:sldId id="395" r:id="rId67"/>
    <p:sldId id="396" r:id="rId68"/>
    <p:sldId id="397" r:id="rId69"/>
    <p:sldId id="398" r:id="rId70"/>
    <p:sldId id="399" r:id="rId71"/>
    <p:sldId id="400" r:id="rId72"/>
    <p:sldId id="401" r:id="rId73"/>
    <p:sldId id="402" r:id="rId74"/>
    <p:sldId id="403" r:id="rId75"/>
    <p:sldId id="405" r:id="rId76"/>
    <p:sldId id="406" r:id="rId77"/>
    <p:sldId id="407" r:id="rId78"/>
    <p:sldId id="408" r:id="rId79"/>
    <p:sldId id="409" r:id="rId80"/>
    <p:sldId id="410" r:id="rId81"/>
    <p:sldId id="411" r:id="rId82"/>
    <p:sldId id="412" r:id="rId83"/>
    <p:sldId id="414" r:id="rId84"/>
    <p:sldId id="415" r:id="rId85"/>
    <p:sldId id="416" r:id="rId86"/>
    <p:sldId id="417" r:id="rId87"/>
    <p:sldId id="418" r:id="rId88"/>
    <p:sldId id="420" r:id="rId89"/>
    <p:sldId id="421" r:id="rId90"/>
    <p:sldId id="423" r:id="rId91"/>
    <p:sldId id="424" r:id="rId92"/>
    <p:sldId id="425" r:id="rId93"/>
    <p:sldId id="426" r:id="rId94"/>
    <p:sldId id="427" r:id="rId95"/>
    <p:sldId id="290" r:id="rId9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B683"/>
    <a:srgbClr val="7030A0"/>
    <a:srgbClr val="A05900"/>
    <a:srgbClr val="C09D2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4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viewProps" Target="viewProps.xml"/><Relationship Id="rId98" Type="http://schemas.openxmlformats.org/officeDocument/2006/relationships/presProps" Target="presProps.xml"/><Relationship Id="rId97" Type="http://schemas.openxmlformats.org/officeDocument/2006/relationships/notesMaster" Target="notesMasters/notesMaster1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1" Type="http://schemas.openxmlformats.org/officeDocument/2006/relationships/commentAuthors" Target="commentAuthors.xml"/><Relationship Id="rId100" Type="http://schemas.openxmlformats.org/officeDocument/2006/relationships/tableStyles" Target="tableStyle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ru-RU" smtClean="0"/>
            </a:fld>
            <a:endParaRPr lang="ru-RU"/>
          </a:p>
        </p:txBody>
      </p:sp>
      <p:sp>
        <p:nvSpPr>
          <p:cNvPr id="4" name="Замещающий 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полнитель примечаний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Щелкните, чтобы изменить стиль образца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80" y="2772410"/>
            <a:ext cx="9799320" cy="131318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6048375" y="4392295"/>
            <a:ext cx="4949825" cy="64071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bg>
      <p:bgPr>
        <a:blipFill rotWithShape="1">
          <a:blip r:embed="rId2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ы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433586" y="278607"/>
            <a:ext cx="11379198" cy="14761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cap="none" baseline="0" dirty="0">
                <a:solidFill>
                  <a:srgbClr val="0072BC"/>
                </a:solidFill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458914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11296612" y="6217622"/>
            <a:ext cx="7315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lang="en-US" sz="138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4226721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7994375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59549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4000" b="0" u="none" strike="noStrike" kern="1200" cap="none" spc="300" normalizeH="0" baseline="0">
          <a:solidFill>
            <a:srgbClr val="0070C0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Последовательности:</a:t>
            </a:r>
            <a:br>
              <a:rPr sz="4400"/>
            </a:br>
            <a:r>
              <a:rPr sz="4400"/>
              <a:t>списки и кортежи</a:t>
            </a:r>
            <a:endParaRPr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9060" y="4744720"/>
            <a:ext cx="5819140" cy="640715"/>
          </a:xfrm>
        </p:spPr>
        <p:txBody>
          <a:bodyPr>
            <a:noAutofit/>
          </a:bodyPr>
          <a:lstStyle/>
          <a:p>
            <a:r>
              <a:rPr sz="2200"/>
              <a:t>Докладчик: Евграфов Михаил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Список: обзор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Составной тип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скалярные: одно значение</a:t>
            </a:r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182880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endParaRPr sz="2200"/>
          </a:p>
        </p:txBody>
      </p:sp>
      <p:sp>
        <p:nvSpPr>
          <p:cNvPr id="5" name="Rounded Rectangle 4"/>
          <p:cNvSpPr/>
          <p:nvPr/>
        </p:nvSpPr>
        <p:spPr>
          <a:xfrm>
            <a:off x="3017520" y="2468880"/>
            <a:ext cx="182880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3.14</a:t>
            </a:r>
            <a:endParaRPr sz="2200"/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182880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True</a:t>
            </a:r>
            <a:endParaRPr sz="2200"/>
          </a:p>
        </p:txBody>
      </p:sp>
      <p:sp>
        <p:nvSpPr>
          <p:cNvPr id="7" name="Rounded Rectangle 6"/>
          <p:cNvSpPr/>
          <p:nvPr/>
        </p:nvSpPr>
        <p:spPr>
          <a:xfrm>
            <a:off x="3017520" y="3749039"/>
            <a:ext cx="182880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endParaRPr sz="2200"/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rgbClr val="737373"/>
                </a:solidFill>
              </a:rPr>
              <a:t>составной: контейнер</a:t>
            </a:r>
            <a:endParaRPr sz="1800"/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120640" cy="15544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2000"/>
          </a:p>
        </p:txBody>
      </p:sp>
      <p:sp>
        <p:nvSpPr>
          <p:cNvPr id="10" name="Rounded Rectangle 9"/>
          <p:cNvSpPr/>
          <p:nvPr/>
        </p:nvSpPr>
        <p:spPr>
          <a:xfrm>
            <a:off x="6446520" y="2788920"/>
            <a:ext cx="128016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endParaRPr sz="2200"/>
          </a:p>
        </p:txBody>
      </p:sp>
      <p:sp>
        <p:nvSpPr>
          <p:cNvPr id="11" name="Rounded Rectangle 10"/>
          <p:cNvSpPr/>
          <p:nvPr/>
        </p:nvSpPr>
        <p:spPr>
          <a:xfrm>
            <a:off x="8138160" y="2788920"/>
            <a:ext cx="128016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endParaRPr sz="2200"/>
          </a:p>
        </p:txBody>
      </p:sp>
      <p:sp>
        <p:nvSpPr>
          <p:cNvPr id="12" name="Rounded Rectangle 11"/>
          <p:cNvSpPr/>
          <p:nvPr/>
        </p:nvSpPr>
        <p:spPr>
          <a:xfrm>
            <a:off x="9829800" y="2788920"/>
            <a:ext cx="128016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endParaRPr sz="2200"/>
          </a:p>
        </p:txBody>
      </p:sp>
      <p:sp>
        <p:nvSpPr>
          <p:cNvPr id="13" name="TextBox 12"/>
          <p:cNvSpPr txBox="1"/>
          <p:nvPr/>
        </p:nvSpPr>
        <p:spPr>
          <a:xfrm>
            <a:off x="6217920" y="4206240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rgbClr val="737373"/>
                </a:solidFill>
              </a:rPr>
              <a:t>хранит ссылки на другие объекты</a:t>
            </a:r>
            <a:endParaRPr sz="1800"/>
          </a:p>
        </p:txBody>
      </p:sp>
      <p:sp>
        <p:nvSpPr>
          <p:cNvPr id="1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Список — контейнер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087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empty_list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[10, 20, 30]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Характеристики списка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гетерогенный</a:t>
            </a:r>
            <a:endParaRPr sz="2200"/>
          </a:p>
        </p:txBody>
      </p:sp>
      <p:sp>
        <p:nvSpPr>
          <p:cNvPr id="4" name="Rounded Rectangle 3"/>
          <p:cNvSpPr/>
          <p:nvPr/>
        </p:nvSpPr>
        <p:spPr>
          <a:xfrm>
            <a:off x="44805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ограниченный</a:t>
            </a:r>
            <a:endParaRPr sz="2200"/>
          </a:p>
        </p:txBody>
      </p:sp>
      <p:sp>
        <p:nvSpPr>
          <p:cNvPr id="5" name="Rounded Rectangle 4"/>
          <p:cNvSpPr/>
          <p:nvPr/>
        </p:nvSpPr>
        <p:spPr>
          <a:xfrm>
            <a:off x="81381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упорядоченный</a:t>
            </a:r>
            <a:endParaRPr sz="2200"/>
          </a:p>
        </p:txBody>
      </p:sp>
      <p:sp>
        <p:nvSpPr>
          <p:cNvPr id="6" name="Rounded Rectangle 5"/>
          <p:cNvSpPr/>
          <p:nvPr/>
        </p:nvSpPr>
        <p:spPr>
          <a:xfrm>
            <a:off x="26517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изменяемый</a:t>
            </a:r>
            <a:endParaRPr sz="2200"/>
          </a:p>
        </p:txBody>
      </p:sp>
      <p:sp>
        <p:nvSpPr>
          <p:cNvPr id="7" name="Rounded Rectangle 6"/>
          <p:cNvSpPr/>
          <p:nvPr/>
        </p:nvSpPr>
        <p:spPr>
          <a:xfrm>
            <a:off x="63093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итерируемый</a:t>
            </a:r>
            <a:endParaRPr sz="2200"/>
          </a:p>
        </p:txBody>
      </p:sp>
      <p:sp>
        <p:nvSpPr>
          <p:cNvPr id="8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Гетерогенность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mixed_values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3.14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True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mixed_values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[42, 'hello', 3.14, True, None, [1, 2, 3]]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Однородные списки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18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"Bob"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"Charlie"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[18, 25, 42]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['Alice', 'Bob', 'Charlie']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087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"cherry"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Упорядоченность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ordered_colors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ordered_colors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red - первый элемент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ordered_colors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blue - третий элемент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Изменяемость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775" y="1600200"/>
            <a:ext cx="761619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identity_before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[100, 20, 30, 40]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identity_before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Итерируемость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775" y="1600200"/>
            <a:ext cx="8740775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"cherry"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apple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banana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cherry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6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Где применяются списки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наборы однородных данных</a:t>
            </a:r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44805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накопление результатов</a:t>
            </a:r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81381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очереди и стеки</a:t>
            </a:r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26517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таблицы и матрицы</a:t>
            </a:r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63093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промежуточные данные</a:t>
            </a:r>
            <a:endParaRPr sz="2000"/>
          </a:p>
        </p:txBody>
      </p:sp>
      <p:sp>
        <p:nvSpPr>
          <p:cNvPr id="8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Создание списков</a:t>
            </a:r>
            <a:endParaRPr sz="6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Списковый литерал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087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empty_list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single_item_list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several_items_list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mixed_list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"two"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True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Вложенные списки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matrix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/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775" y="1628140"/>
            <a:ext cx="4739005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['a', 'b', 'c']</a:t>
            </a:r>
            <a:endParaRPr sz="3200"/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3]</a:t>
            </a:r>
            <a:endParaRPr sz="3200"/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[0, 1, 2, 3, 4]</a:t>
            </a:r>
            <a:endParaRPr sz="3200"/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list() создает копию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775" y="1600200"/>
            <a:ext cx="799084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original_numbers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copied_numbers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добавляе</a:t>
            </a:r>
            <a:r>
              <a:rPr 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м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 элемент в конец списка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copied_numbers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3]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copied_numbers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3, 4]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Копия и второе имя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5212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copied_numbers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228600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original_numbers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228600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copied_numbers</a:t>
            </a:r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3840480" y="3246120"/>
            <a:ext cx="192024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1600"/>
          </a:p>
        </p:txBody>
      </p:sp>
      <p:cxnSp>
        <p:nvCxnSpPr>
          <p:cNvPr id="7" name="Connector 6"/>
          <p:cNvCxnSpPr/>
          <p:nvPr/>
        </p:nvCxnSpPr>
        <p:spPr>
          <a:xfrm>
            <a:off x="2926080" y="2926080"/>
            <a:ext cx="914400" cy="54864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926080" y="3657600"/>
            <a:ext cx="914400" cy="54864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93776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rgbClr val="737373"/>
                </a:solidFill>
              </a:rPr>
              <a:t>один объект, два имени</a:t>
            </a:r>
            <a:endParaRPr sz="1800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212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copied_numbers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original_numbers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51760"/>
            <a:ext cx="228600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original_numbers</a:t>
            </a:r>
            <a:endParaRPr sz="1600"/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228600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copied_numbers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9601200" y="2606040"/>
            <a:ext cx="192024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1600"/>
          </a:p>
        </p:txBody>
      </p:sp>
      <p:sp>
        <p:nvSpPr>
          <p:cNvPr id="14" name="Rounded Rectangle 13"/>
          <p:cNvSpPr/>
          <p:nvPr/>
        </p:nvSpPr>
        <p:spPr>
          <a:xfrm>
            <a:off x="9601200" y="3886200"/>
            <a:ext cx="192024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1600"/>
          </a:p>
        </p:txBody>
      </p:sp>
      <p:cxnSp>
        <p:nvCxnSpPr>
          <p:cNvPr id="15" name="Connector 14"/>
          <p:cNvCxnSpPr/>
          <p:nvPr/>
        </p:nvCxnSpPr>
        <p:spPr>
          <a:xfrm>
            <a:off x="8686800" y="2926080"/>
            <a:ext cx="9144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86800" y="4206240"/>
            <a:ext cx="9144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493776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rgbClr val="737373"/>
                </a:solidFill>
              </a:rPr>
              <a:t>два независимых объекта</a:t>
            </a:r>
            <a:endParaRPr sz="1800"/>
          </a:p>
        </p:txBody>
      </p:sp>
      <p:sp>
        <p:nvSpPr>
          <p:cNvPr id="18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Списковое включение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600200"/>
            <a:ext cx="1088136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выражение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переменная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источник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608203" y="3042285"/>
            <a:ext cx="1088136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squares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000"/>
          </a:p>
          <a:p>
            <a:pPr algn="l"/>
            <a:endParaRPr sz="3000"/>
          </a:p>
          <a:p>
            <a:pPr algn="l"/>
            <a:r>
              <a:rPr sz="3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squares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4, 9, 16, 25]</a:t>
            </a:r>
            <a:endParaRPr sz="3000"/>
          </a:p>
        </p:txBody>
      </p:sp>
      <p:sp>
        <p:nvSpPr>
          <p:cNvPr id="5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Обычное включение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"list"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"tuple"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word_lengths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word_lengths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[6, 4, 5]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Включение с if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600200"/>
            <a:ext cx="1088136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выражение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переменная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источник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условие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612775" y="2813050"/>
            <a:ext cx="926592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11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even_numbers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even_numbers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[2, 4, 6, 8, 10]</a:t>
            </a:r>
            <a:endParaRPr sz="2400"/>
          </a:p>
        </p:txBody>
      </p:sp>
      <p:sp>
        <p:nvSpPr>
          <p:cNvPr id="5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Тот же результат циклом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775" y="1600200"/>
            <a:ext cx="8085455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even_numbers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even_numbers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even_numbers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[2, 4, 6, 8, 10]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Вложенные циклы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600200"/>
            <a:ext cx="1088136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9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9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выражение</a:t>
            </a:r>
            <a:r>
              <a:rPr sz="1900">
                <a:latin typeface="Consolas" panose="020B0609020204030204"/>
                <a:cs typeface="Consolas" panose="020B0609020204030204"/>
              </a:rPr>
              <a:t> </a:t>
            </a:r>
            <a:r>
              <a:rPr sz="19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1900">
                <a:latin typeface="Consolas" panose="020B0609020204030204"/>
                <a:cs typeface="Consolas" panose="020B0609020204030204"/>
              </a:rPr>
              <a:t> </a:t>
            </a:r>
            <a:r>
              <a:rPr sz="19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переменная_1</a:t>
            </a:r>
            <a:r>
              <a:rPr sz="1900">
                <a:latin typeface="Consolas" panose="020B0609020204030204"/>
                <a:cs typeface="Consolas" panose="020B0609020204030204"/>
              </a:rPr>
              <a:t> </a:t>
            </a:r>
            <a:r>
              <a:rPr sz="19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1900">
                <a:latin typeface="Consolas" panose="020B0609020204030204"/>
                <a:cs typeface="Consolas" panose="020B0609020204030204"/>
              </a:rPr>
              <a:t> </a:t>
            </a:r>
            <a:r>
              <a:rPr sz="19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источник_1</a:t>
            </a:r>
            <a:r>
              <a:rPr sz="1900">
                <a:latin typeface="Consolas" panose="020B0609020204030204"/>
                <a:cs typeface="Consolas" panose="020B0609020204030204"/>
              </a:rPr>
              <a:t> </a:t>
            </a:r>
            <a:r>
              <a:rPr sz="19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1900">
                <a:latin typeface="Consolas" panose="020B0609020204030204"/>
                <a:cs typeface="Consolas" panose="020B0609020204030204"/>
              </a:rPr>
              <a:t> </a:t>
            </a:r>
            <a:r>
              <a:rPr sz="19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переменная_2</a:t>
            </a:r>
            <a:r>
              <a:rPr sz="1900">
                <a:latin typeface="Consolas" panose="020B0609020204030204"/>
                <a:cs typeface="Consolas" panose="020B0609020204030204"/>
              </a:rPr>
              <a:t> </a:t>
            </a:r>
            <a:r>
              <a:rPr sz="19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1900">
                <a:latin typeface="Consolas" panose="020B0609020204030204"/>
                <a:cs typeface="Consolas" panose="020B0609020204030204"/>
              </a:rPr>
              <a:t> </a:t>
            </a:r>
            <a:r>
              <a:rPr sz="19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источник_2</a:t>
            </a:r>
            <a:r>
              <a:rPr sz="19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1900"/>
          </a:p>
        </p:txBody>
      </p:sp>
      <p:sp>
        <p:nvSpPr>
          <p:cNvPr id="4" name="TextBox 3"/>
          <p:cNvSpPr txBox="1"/>
          <p:nvPr/>
        </p:nvSpPr>
        <p:spPr>
          <a:xfrm>
            <a:off x="612648" y="2999740"/>
            <a:ext cx="1088136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coordinate_pairs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row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column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row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column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coordinate_pairs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[(0, 0), (0, 1), (1, 0), (1, 1), (2, 0), (2, 1)]</a:t>
            </a:r>
            <a:endParaRPr sz="2400"/>
          </a:p>
        </p:txBody>
      </p:sp>
      <p:sp>
        <p:nvSpPr>
          <p:cNvPr id="5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Тот же результат циклом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355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coordinate_pairs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row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column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coordinate_pairs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row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column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coordinate_pairs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[(0, 0), (0, 1), (1, 0), (1, 1), (2, 0), (2, 1)]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Практический пример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12775" y="1671320"/>
            <a:ext cx="1022223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matrix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flat_values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row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matrix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row</a:t>
            </a:r>
            <a:endParaRPr sz="32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flat_values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3, 4, 5, 6, 7, 8, 9]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Длина и индексы</a:t>
            </a:r>
            <a:endParaRPr sz="6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087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"cherry"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len() и вложенность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nested_list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nested_list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Индексы списка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75688" y="2468880"/>
            <a:ext cx="201168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4160520" y="2468880"/>
            <a:ext cx="201168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6245352" y="2468880"/>
            <a:ext cx="201168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8330184" y="2468880"/>
            <a:ext cx="201168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"yellow"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2075688" y="201168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0</a:t>
            </a:r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4160520" y="201168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1</a:t>
            </a:r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6245352" y="201168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2</a:t>
            </a:r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8330184" y="201168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3</a:t>
            </a:r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2075688" y="4297680"/>
            <a:ext cx="201168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4160520" y="4297680"/>
            <a:ext cx="201168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endParaRPr sz="2000"/>
          </a:p>
        </p:txBody>
      </p:sp>
      <p:sp>
        <p:nvSpPr>
          <p:cNvPr id="13" name="Rounded Rectangle 12"/>
          <p:cNvSpPr/>
          <p:nvPr/>
        </p:nvSpPr>
        <p:spPr>
          <a:xfrm>
            <a:off x="6245352" y="4297680"/>
            <a:ext cx="201168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8330184" y="4297680"/>
            <a:ext cx="201168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"yellow"</a:t>
            </a:r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2075688" y="384048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-4</a:t>
            </a:r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4160520" y="384048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-3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6245352" y="384048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-2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8330184" y="384048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-1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12648" y="2741930"/>
            <a:ext cx="13716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rgbClr val="737373"/>
                </a:solidFill>
              </a:rPr>
              <a:t>с начала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570730"/>
            <a:ext cx="13716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rgbClr val="737373"/>
                </a:solidFill>
              </a:rPr>
              <a:t>с конца</a:t>
            </a:r>
          </a:p>
        </p:txBody>
      </p:sp>
      <p:sp>
        <p:nvSpPr>
          <p:cNvPr id="21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Положительные индексы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775" y="1657985"/>
            <a:ext cx="1027430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"yellow"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red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green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yellow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Отрицательные индексы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4084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colors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"red"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"green"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"blue"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"yellow"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]</a:t>
            </a:r>
            <a:endParaRPr sz="3200"/>
          </a:p>
          <a:p>
            <a:pPr algn="l"/>
            <a:endParaRPr sz="32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yellow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blue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red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IndexError: list index out of range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IndexError: list index out of range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Синтаксис среза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45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start</a:t>
            </a:r>
            <a:r>
              <a:rPr sz="3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stop</a:t>
            </a:r>
            <a:r>
              <a:rPr sz="3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step</a:t>
            </a:r>
            <a:r>
              <a:rPr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600"/>
          </a:p>
        </p:txBody>
      </p:sp>
      <p:sp>
        <p:nvSpPr>
          <p:cNvPr id="4" name="Rounded Rectangle 3"/>
          <p:cNvSpPr/>
          <p:nvPr/>
        </p:nvSpPr>
        <p:spPr>
          <a:xfrm>
            <a:off x="822960" y="2926080"/>
            <a:ext cx="3200400" cy="10058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start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включительно</a:t>
            </a:r>
            <a:endParaRPr sz="1600"/>
          </a:p>
          <a:p>
            <a:pPr algn="ctr"/>
            <a:r>
              <a:rPr sz="1600">
                <a:solidFill>
                  <a:srgbClr val="737373"/>
                </a:solidFill>
              </a:rPr>
              <a:t>по умолчанию — начало</a:t>
            </a:r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4480560" y="2926080"/>
            <a:ext cx="3200400" cy="10058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stop</a:t>
            </a:r>
            <a:endParaRPr sz="2600"/>
          </a:p>
        </p:txBody>
      </p:sp>
      <p:sp>
        <p:nvSpPr>
          <p:cNvPr id="7" name="TextBox 6"/>
          <p:cNvSpPr txBox="1"/>
          <p:nvPr/>
        </p:nvSpPr>
        <p:spPr>
          <a:xfrm>
            <a:off x="4480560" y="411480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не входит в результат</a:t>
            </a:r>
            <a:endParaRPr sz="1600"/>
          </a:p>
          <a:p>
            <a:pPr algn="ctr"/>
            <a:r>
              <a:rPr sz="1600">
                <a:solidFill>
                  <a:srgbClr val="737373"/>
                </a:solidFill>
              </a:rPr>
              <a:t>по умолчанию — конец</a:t>
            </a:r>
            <a:endParaRPr sz="1600"/>
          </a:p>
        </p:txBody>
      </p:sp>
      <p:sp>
        <p:nvSpPr>
          <p:cNvPr id="8" name="Rounded Rectangle 7"/>
          <p:cNvSpPr/>
          <p:nvPr/>
        </p:nvSpPr>
        <p:spPr>
          <a:xfrm>
            <a:off x="8138160" y="2926080"/>
            <a:ext cx="3200400" cy="10058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step</a:t>
            </a:r>
            <a:endParaRPr sz="2600"/>
          </a:p>
        </p:txBody>
      </p:sp>
      <p:sp>
        <p:nvSpPr>
          <p:cNvPr id="9" name="TextBox 8"/>
          <p:cNvSpPr txBox="1"/>
          <p:nvPr/>
        </p:nvSpPr>
        <p:spPr>
          <a:xfrm>
            <a:off x="8138160" y="411480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шаг</a:t>
            </a:r>
            <a:endParaRPr sz="1600"/>
          </a:p>
          <a:p>
            <a:pPr algn="ctr"/>
            <a:r>
              <a:rPr sz="1600">
                <a:solidFill>
                  <a:srgbClr val="737373"/>
                </a:solidFill>
              </a:rPr>
              <a:t>по умолчанию — 1</a:t>
            </a:r>
            <a:endParaRPr sz="1600"/>
          </a:p>
        </p:txBody>
      </p:sp>
      <p:sp>
        <p:nvSpPr>
          <p:cNvPr id="10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Срез numbers[2:5]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7048" y="2651760"/>
            <a:ext cx="841248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endParaRPr sz="2200"/>
          </a:p>
        </p:txBody>
      </p:sp>
      <p:sp>
        <p:nvSpPr>
          <p:cNvPr id="4" name="Rounded Rectangle 3"/>
          <p:cNvSpPr/>
          <p:nvPr/>
        </p:nvSpPr>
        <p:spPr>
          <a:xfrm>
            <a:off x="2441448" y="2651760"/>
            <a:ext cx="841248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2200"/>
          </a:p>
        </p:txBody>
      </p:sp>
      <p:sp>
        <p:nvSpPr>
          <p:cNvPr id="5" name="Rounded Rectangle 4"/>
          <p:cNvSpPr/>
          <p:nvPr/>
        </p:nvSpPr>
        <p:spPr>
          <a:xfrm>
            <a:off x="3355848" y="2651760"/>
            <a:ext cx="841248" cy="82296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2200"/>
          </a:p>
        </p:txBody>
      </p:sp>
      <p:sp>
        <p:nvSpPr>
          <p:cNvPr id="6" name="Rounded Rectangle 5"/>
          <p:cNvSpPr/>
          <p:nvPr/>
        </p:nvSpPr>
        <p:spPr>
          <a:xfrm>
            <a:off x="4270248" y="2651760"/>
            <a:ext cx="841248" cy="82296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2200"/>
          </a:p>
        </p:txBody>
      </p:sp>
      <p:sp>
        <p:nvSpPr>
          <p:cNvPr id="7" name="Rounded Rectangle 6"/>
          <p:cNvSpPr/>
          <p:nvPr/>
        </p:nvSpPr>
        <p:spPr>
          <a:xfrm>
            <a:off x="5184648" y="2651760"/>
            <a:ext cx="841248" cy="82296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4</a:t>
            </a:r>
            <a:endParaRPr sz="2200"/>
          </a:p>
        </p:txBody>
      </p:sp>
      <p:sp>
        <p:nvSpPr>
          <p:cNvPr id="8" name="Rounded Rectangle 7"/>
          <p:cNvSpPr/>
          <p:nvPr/>
        </p:nvSpPr>
        <p:spPr>
          <a:xfrm>
            <a:off x="6099048" y="2651760"/>
            <a:ext cx="841248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endParaRPr sz="2200"/>
          </a:p>
        </p:txBody>
      </p:sp>
      <p:sp>
        <p:nvSpPr>
          <p:cNvPr id="9" name="Rounded Rectangle 8"/>
          <p:cNvSpPr/>
          <p:nvPr/>
        </p:nvSpPr>
        <p:spPr>
          <a:xfrm>
            <a:off x="7013448" y="2651760"/>
            <a:ext cx="841248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endParaRPr sz="2200"/>
          </a:p>
        </p:txBody>
      </p:sp>
      <p:sp>
        <p:nvSpPr>
          <p:cNvPr id="10" name="Rounded Rectangle 9"/>
          <p:cNvSpPr/>
          <p:nvPr/>
        </p:nvSpPr>
        <p:spPr>
          <a:xfrm>
            <a:off x="7927848" y="2651760"/>
            <a:ext cx="841248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endParaRPr sz="2200"/>
          </a:p>
        </p:txBody>
      </p:sp>
      <p:sp>
        <p:nvSpPr>
          <p:cNvPr id="11" name="Rounded Rectangle 10"/>
          <p:cNvSpPr/>
          <p:nvPr/>
        </p:nvSpPr>
        <p:spPr>
          <a:xfrm>
            <a:off x="8842248" y="2651760"/>
            <a:ext cx="841248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</a:t>
            </a:r>
            <a:endParaRPr sz="2200"/>
          </a:p>
        </p:txBody>
      </p:sp>
      <p:sp>
        <p:nvSpPr>
          <p:cNvPr id="12" name="Rounded Rectangle 11"/>
          <p:cNvSpPr/>
          <p:nvPr/>
        </p:nvSpPr>
        <p:spPr>
          <a:xfrm>
            <a:off x="9756648" y="2651760"/>
            <a:ext cx="841248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</a:t>
            </a:r>
            <a:endParaRPr sz="2200"/>
          </a:p>
        </p:txBody>
      </p:sp>
      <p:sp>
        <p:nvSpPr>
          <p:cNvPr id="13" name="TextBox 12"/>
          <p:cNvSpPr txBox="1"/>
          <p:nvPr/>
        </p:nvSpPr>
        <p:spPr>
          <a:xfrm>
            <a:off x="1527048" y="2194560"/>
            <a:ext cx="8412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0</a:t>
            </a:r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2441448" y="2194560"/>
            <a:ext cx="8412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1</a:t>
            </a:r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3355848" y="2194560"/>
            <a:ext cx="8412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2</a:t>
            </a:r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4270248" y="2194560"/>
            <a:ext cx="8412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3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5184648" y="2194560"/>
            <a:ext cx="8412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4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6099048" y="2194560"/>
            <a:ext cx="8412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5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7013448" y="2194560"/>
            <a:ext cx="8412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6</a:t>
            </a:r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7927848" y="2194560"/>
            <a:ext cx="8412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7</a:t>
            </a:r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8842248" y="2194560"/>
            <a:ext cx="8412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8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756648" y="2194560"/>
            <a:ext cx="8412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9</a:t>
            </a:r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2862072" y="3749039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rgbClr val="737373"/>
                </a:solidFill>
              </a:rPr>
              <a:t>start = 2</a:t>
            </a:r>
            <a:endParaRPr sz="1800"/>
          </a:p>
        </p:txBody>
      </p:sp>
      <p:sp>
        <p:nvSpPr>
          <p:cNvPr id="24" name="TextBox 23"/>
          <p:cNvSpPr txBox="1"/>
          <p:nvPr/>
        </p:nvSpPr>
        <p:spPr>
          <a:xfrm>
            <a:off x="5605272" y="3749039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rgbClr val="737373"/>
                </a:solidFill>
              </a:rPr>
              <a:t>stop = 5</a:t>
            </a:r>
            <a:endParaRPr sz="1800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776472" y="3520440"/>
            <a:ext cx="0" cy="228599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519672" y="3520440"/>
            <a:ext cx="0" cy="228599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27048" y="4754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737373"/>
                </a:solidFill>
              </a:rPr>
              <a:t>результат — новый список [2, 3, 4]</a:t>
            </a:r>
            <a:endParaRPr sz="2200"/>
          </a:p>
        </p:txBody>
      </p:sp>
      <p:sp>
        <p:nvSpPr>
          <p:cNvPr id="28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Срезы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330" y="1527175"/>
            <a:ext cx="9331325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[2, 3, 4]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[0, 1, 2, 3]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[6, 7, 8, 9]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latin typeface="Consolas" panose="020B0609020204030204"/>
                <a:cs typeface="Consolas" panose="020B0609020204030204"/>
              </a:rPr>
              <a:t>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[0, 1, ..., 9]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::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[0, 1, ..., 9]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::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[0, 2, 4, 6, 8]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::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[9, 8, ..., 0]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Отрицательные срезы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0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3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4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5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6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7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8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9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]</a:t>
            </a:r>
            <a:endParaRPr sz="3200"/>
          </a:p>
          <a:p>
            <a:pPr algn="l"/>
            <a:endParaRPr sz="32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[7, 8, 9]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:-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[0, 1, ..., 6]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Срез без IndexError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0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3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4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5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6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7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8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9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]</a:t>
            </a:r>
            <a:endParaRPr sz="32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[5, 6, 7, 8, 9]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Срез — всегда список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0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3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4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5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6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7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8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9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]</a:t>
            </a:r>
            <a:endParaRPr sz="32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>
              <a:solidFill>
                <a:schemeClr val="accent3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[2]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список из одного элемента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 а вот это уже сам элемент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Объект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explicit_slice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slice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explicit_slice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'slice'&gt;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explicit_slice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3, 5, 7]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2800">
                <a:latin typeface="Consolas" panose="020B0609020204030204"/>
                <a:cs typeface="Consolas" panose="020B0609020204030204"/>
              </a:rPr>
              <a:t>   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3, 5, 7]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reverse_slice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slice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reverse_slice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[9, 8, 7, 6, 5, 4, 3, 2, 1, 0]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Практический пример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DATE_SLICE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slice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800"/>
          </a:p>
          <a:p>
            <a:pPr algn="l"/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LEVEL_SLICE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slice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11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16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800"/>
          </a:p>
          <a:p>
            <a:pPr algn="l"/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MESSAGE_SLICE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slice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17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800"/>
          </a:p>
          <a:p>
            <a:pPr algn="l"/>
            <a:endParaRPr sz="1800"/>
          </a:p>
          <a:p>
            <a:pPr algn="l"/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log_lines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endParaRPr sz="1800"/>
          </a:p>
          <a:p>
            <a:pPr algn="l"/>
            <a:r>
              <a:rPr sz="1800">
                <a:latin typeface="Consolas" panose="020B0609020204030204"/>
                <a:cs typeface="Consolas" panose="020B0609020204030204"/>
              </a:rPr>
              <a:t>    </a:t>
            </a:r>
            <a:r>
              <a:rPr sz="1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"2024-05-17 ERROR disk is full"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1800"/>
          </a:p>
          <a:p>
            <a:pPr algn="l"/>
            <a:r>
              <a:rPr sz="1800">
                <a:latin typeface="Consolas" panose="020B0609020204030204"/>
                <a:cs typeface="Consolas" panose="020B0609020204030204"/>
              </a:rPr>
              <a:t>    </a:t>
            </a:r>
            <a:r>
              <a:rPr sz="1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"2024-05-18 INFO backup finished"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1800"/>
          </a:p>
          <a:p>
            <a:pPr algn="l"/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1800"/>
          </a:p>
          <a:p>
            <a:pPr algn="l"/>
            <a:endParaRPr sz="1800"/>
          </a:p>
          <a:p>
            <a:pPr algn="l"/>
            <a:r>
              <a:rPr sz="1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log_line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log_lines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1800"/>
          </a:p>
          <a:p>
            <a:pPr algn="l"/>
            <a:r>
              <a:rPr sz="1800">
                <a:latin typeface="Consolas" panose="020B0609020204030204"/>
                <a:cs typeface="Consolas" panose="020B0609020204030204"/>
              </a:rPr>
              <a:t>    </a:t>
            </a:r>
            <a:r>
              <a:rPr sz="1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log_line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LEVEL_SLICE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log_line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DATE_SLICE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1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800">
                <a:latin typeface="Consolas" panose="020B0609020204030204"/>
                <a:cs typeface="Consolas" panose="020B0609020204030204"/>
              </a:rPr>
              <a:t> 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log_line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MESSAGE_SLICE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1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800"/>
          </a:p>
          <a:p>
            <a:pPr algn="l"/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ERROR 2024-05-17 disk is full</a:t>
            </a:r>
            <a:endParaRPr sz="1800"/>
          </a:p>
          <a:p>
            <a:pPr algn="l"/>
            <a:r>
              <a:rPr sz="1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INFO  2024-05-18 backup finished</a:t>
            </a:r>
            <a:endParaRPr sz="1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5700"/>
              <a:t>Изменение списков</a:t>
            </a:r>
            <a:endParaRPr sz="57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Замена по индексу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"cherry"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"blueberry"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['apple', 'blueberry', 'cherry']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Замена среза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[0, 10, 20, 4, 5]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Вставка через срез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"x"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['a', 'x', 'y', 'b', 'c']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Удаление через срез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[0, 4, 5]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Методы списка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737373"/>
                </a:solidFill>
              </a:rPr>
              <a:t>изменяют список «на месте»</a:t>
            </a:r>
            <a:endParaRPr sz="1800"/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3474720" y="214884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insert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6126480" y="214884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extend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8778240" y="214884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remove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9" name="Rounded Rectangle 8"/>
          <p:cNvSpPr/>
          <p:nvPr/>
        </p:nvSpPr>
        <p:spPr>
          <a:xfrm>
            <a:off x="3474720" y="301752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clear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10" name="Rounded Rectangle 9"/>
          <p:cNvSpPr/>
          <p:nvPr/>
        </p:nvSpPr>
        <p:spPr>
          <a:xfrm>
            <a:off x="6126480" y="301752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sort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11" name="Rounded Rectangle 10"/>
          <p:cNvSpPr/>
          <p:nvPr/>
        </p:nvSpPr>
        <p:spPr>
          <a:xfrm>
            <a:off x="8778240" y="301752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reverse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737373"/>
                </a:solidFill>
              </a:rPr>
              <a:t>только читают информацию</a:t>
            </a:r>
            <a:endParaRPr sz="1800"/>
          </a:p>
        </p:txBody>
      </p:sp>
      <p:sp>
        <p:nvSpPr>
          <p:cNvPr id="13" name="Rounded Rectangle 12"/>
          <p:cNvSpPr/>
          <p:nvPr/>
        </p:nvSpPr>
        <p:spPr>
          <a:xfrm>
            <a:off x="822960" y="466344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index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3474720" y="466344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count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15" name="Rounded Rectangle 14"/>
          <p:cNvSpPr/>
          <p:nvPr/>
        </p:nvSpPr>
        <p:spPr>
          <a:xfrm>
            <a:off x="6126480" y="4663440"/>
            <a:ext cx="2377440" cy="6858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copy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16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Методы вставки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203" y="1421765"/>
            <a:ext cx="10881360" cy="489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"milk"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"bread"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"eggs"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['milk', 'bread', 'eggs']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insert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"butter"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['milk', 'butter', 'bread', 'eggs']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extend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"tea"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"coffee"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['milk', 'butter', 'bread', 'eggs', 'tea', 'coffee']</a:t>
            </a:r>
            <a:endParaRPr sz="24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append() </a:t>
            </a:r>
            <a:r>
              <a:rPr lang="en-US"/>
              <a:t>vs</a:t>
            </a:r>
            <a:r>
              <a:t> extend()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3, [4, 5]]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another_numbers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another_numbers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extend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another_numbers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3, 4, 5]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Методы удаления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449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remove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"butter"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lang="en-US"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['milk', 'bread', 'eggs', 'tea', 'coffee']</a:t>
            </a:r>
            <a:endParaRPr sz="2200"/>
          </a:p>
          <a:p>
            <a:pPr algn="l"/>
            <a:endParaRPr sz="2200"/>
          </a:p>
          <a:p>
            <a:pPr algn="l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last_item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last_item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200">
                <a:latin typeface="Consolas" panose="020B0609020204030204"/>
                <a:cs typeface="Consolas" panose="020B0609020204030204"/>
              </a:rPr>
              <a:t> 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coffee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200">
                <a:latin typeface="Consolas" panose="020B0609020204030204"/>
                <a:cs typeface="Consolas" panose="020B0609020204030204"/>
              </a:rPr>
              <a:t> 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['milk', 'bread', 'eggs', 'tea']</a:t>
            </a:r>
            <a:endParaRPr sz="2200"/>
          </a:p>
          <a:p>
            <a:pPr algn="l"/>
            <a:endParaRPr sz="2200"/>
          </a:p>
          <a:p>
            <a:pPr algn="l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first_item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first_item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200">
                <a:latin typeface="Consolas" panose="020B0609020204030204"/>
                <a:cs typeface="Consolas" panose="020B0609020204030204"/>
              </a:rPr>
              <a:t> 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milk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200">
                <a:latin typeface="Consolas" panose="020B0609020204030204"/>
                <a:cs typeface="Consolas" panose="020B0609020204030204"/>
              </a:rPr>
              <a:t>  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['bread', 'eggs', 'tea']</a:t>
            </a:r>
            <a:endParaRPr sz="2200"/>
          </a:p>
          <a:p>
            <a:pPr algn="l"/>
            <a:endParaRPr sz="2200"/>
          </a:p>
          <a:p>
            <a:pPr algn="l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clear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200">
                <a:latin typeface="Consolas" panose="020B0609020204030204"/>
                <a:cs typeface="Consolas" panose="020B0609020204030204"/>
              </a:rPr>
              <a:t> 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[]</a:t>
            </a:r>
            <a:endParaRPr sz="2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Исключения при удалении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329184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remove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4" name="Connector 3"/>
          <p:cNvCxnSpPr/>
          <p:nvPr/>
        </p:nvCxnSpPr>
        <p:spPr>
          <a:xfrm>
            <a:off x="4114800" y="2423160"/>
            <a:ext cx="73152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846320" y="2011680"/>
            <a:ext cx="274320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 b="1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ValueError</a:t>
            </a:r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7772400" y="1965960"/>
            <a:ext cx="37490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737373"/>
                </a:solidFill>
              </a:rPr>
              <a:t>значения нет в списке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822960" y="3291840"/>
            <a:ext cx="329184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8" name="Connector 7"/>
          <p:cNvCxnSpPr/>
          <p:nvPr/>
        </p:nvCxnSpPr>
        <p:spPr>
          <a:xfrm>
            <a:off x="4114800" y="3703320"/>
            <a:ext cx="73152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6320" y="3291840"/>
            <a:ext cx="274320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 b="1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IndexError</a:t>
            </a:r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7772400" y="3246120"/>
            <a:ext cx="37490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737373"/>
                </a:solidFill>
              </a:rPr>
              <a:t>список пуст или индекс вне границ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329184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clear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12" name="Connector 11"/>
          <p:cNvCxnSpPr/>
          <p:nvPr/>
        </p:nvCxnSpPr>
        <p:spPr>
          <a:xfrm>
            <a:off x="4114800" y="4983480"/>
            <a:ext cx="73152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46320" y="4572000"/>
            <a:ext cx="2743200" cy="822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 b="1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—</a:t>
            </a:r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7772400" y="4526280"/>
            <a:ext cx="37490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737373"/>
                </a:solidFill>
              </a:rPr>
              <a:t>исключений не возбуждает</a:t>
            </a:r>
            <a:endParaRPr sz="1400"/>
          </a:p>
        </p:txBody>
      </p:sp>
      <p:sp>
        <p:nvSpPr>
          <p:cNvPr id="15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Изменение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775" y="1600200"/>
            <a:ext cx="846074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"bread"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"eggs"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"tea"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sort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['bread', 'eggs', 'tea']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reverse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groceries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['tea', 'eggs', 'bread']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index(), count(), copy()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330" y="1826260"/>
            <a:ext cx="6237605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index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count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copy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[3, 1, 4, 1, 5]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203" y="1552575"/>
            <a:ext cx="1088136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del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[20, 30, 40, 50]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del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[20, 50]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del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del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values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NameError: name 'values' is not defined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Итерируемость</a:t>
            </a:r>
            <a:endParaRPr sz="6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Цикл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"cherry"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apple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banana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cherry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6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Следствие итерируемости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203" y="1965960"/>
            <a:ext cx="10881360" cy="310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85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78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sum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345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max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92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min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78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sorted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[78, 85, 90, 92]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reversed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[90, 78, 92, 85]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Списки в CPython</a:t>
            </a:r>
            <a:endParaRPr sz="6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Массив указателей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>
                <a:solidFill>
                  <a:srgbClr val="737373"/>
                </a:solidFill>
              </a:rPr>
              <a:t>list — массив указателей</a:t>
            </a:r>
            <a:endParaRPr sz="1800"/>
          </a:p>
        </p:txBody>
      </p:sp>
      <p:sp>
        <p:nvSpPr>
          <p:cNvPr id="4" name="Rounded Rectangle 3"/>
          <p:cNvSpPr/>
          <p:nvPr/>
        </p:nvSpPr>
        <p:spPr>
          <a:xfrm>
            <a:off x="1097280" y="2194560"/>
            <a:ext cx="2377440" cy="73152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ptr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286000" y="2926080"/>
            <a:ext cx="0" cy="118872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280160" y="4114800"/>
            <a:ext cx="2011680" cy="73152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endParaRPr sz="1800"/>
          </a:p>
        </p:txBody>
      </p:sp>
      <p:sp>
        <p:nvSpPr>
          <p:cNvPr id="8" name="Rounded Rectangle 7"/>
          <p:cNvSpPr/>
          <p:nvPr/>
        </p:nvSpPr>
        <p:spPr>
          <a:xfrm>
            <a:off x="3566160" y="2194560"/>
            <a:ext cx="2377440" cy="73152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ptr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4754880" y="2926080"/>
            <a:ext cx="0" cy="118872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40" y="4114800"/>
            <a:ext cx="2011680" cy="73152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3749040" y="493776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endParaRPr sz="1800"/>
          </a:p>
        </p:txBody>
      </p:sp>
      <p:sp>
        <p:nvSpPr>
          <p:cNvPr id="12" name="Rounded Rectangle 11"/>
          <p:cNvSpPr/>
          <p:nvPr/>
        </p:nvSpPr>
        <p:spPr>
          <a:xfrm>
            <a:off x="6035040" y="2194560"/>
            <a:ext cx="2377440" cy="73152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ptr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223760" y="2926080"/>
            <a:ext cx="0" cy="118872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4114800"/>
            <a:ext cx="2011680" cy="73152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6217920" y="493776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endParaRPr sz="1800"/>
          </a:p>
        </p:txBody>
      </p:sp>
      <p:sp>
        <p:nvSpPr>
          <p:cNvPr id="16" name="TextBox 15"/>
          <p:cNvSpPr txBox="1"/>
          <p:nvPr/>
        </p:nvSpPr>
        <p:spPr>
          <a:xfrm>
            <a:off x="8778240" y="2194560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указатели</a:t>
            </a:r>
            <a:endParaRPr sz="1600"/>
          </a:p>
          <a:p>
            <a:pPr algn="ctr"/>
            <a:r>
              <a:rPr sz="1600">
                <a:solidFill>
                  <a:srgbClr val="737373"/>
                </a:solidFill>
              </a:rPr>
              <a:t>одного размера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8778240" y="4114800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объекты живут</a:t>
            </a:r>
            <a:endParaRPr sz="1600"/>
          </a:p>
          <a:p>
            <a:pPr algn="ctr"/>
            <a:r>
              <a:rPr sz="1600">
                <a:solidFill>
                  <a:srgbClr val="737373"/>
                </a:solidFill>
              </a:rPr>
              <a:t>отдельно</a:t>
            </a:r>
            <a:endParaRPr sz="1600"/>
          </a:p>
        </p:txBody>
      </p:sp>
      <p:sp>
        <p:nvSpPr>
          <p:cNvPr id="18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Запас памяти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00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737373"/>
                </a:solidFill>
              </a:rPr>
              <a:t>есть запас</a:t>
            </a:r>
            <a:endParaRPr sz="1600"/>
          </a:p>
        </p:txBody>
      </p:sp>
      <p:sp>
        <p:nvSpPr>
          <p:cNvPr id="4" name="Rounded Rectangle 3"/>
          <p:cNvSpPr/>
          <p:nvPr/>
        </p:nvSpPr>
        <p:spPr>
          <a:xfrm>
            <a:off x="3108960" y="182880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4187952" y="182880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1800"/>
          </a:p>
        </p:txBody>
      </p:sp>
      <p:sp>
        <p:nvSpPr>
          <p:cNvPr id="6" name="Rounded Rectangle 5"/>
          <p:cNvSpPr/>
          <p:nvPr/>
        </p:nvSpPr>
        <p:spPr>
          <a:xfrm>
            <a:off x="5266944" y="182880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1800"/>
          </a:p>
        </p:txBody>
      </p:sp>
      <p:sp>
        <p:nvSpPr>
          <p:cNvPr id="7" name="Rounded Rectangle 6"/>
          <p:cNvSpPr/>
          <p:nvPr/>
        </p:nvSpPr>
        <p:spPr>
          <a:xfrm>
            <a:off x="6345936" y="1828800"/>
            <a:ext cx="1005840" cy="731520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1800"/>
          </a:p>
        </p:txBody>
      </p:sp>
      <p:sp>
        <p:nvSpPr>
          <p:cNvPr id="8" name="Rounded Rectangle 7"/>
          <p:cNvSpPr/>
          <p:nvPr/>
        </p:nvSpPr>
        <p:spPr>
          <a:xfrm>
            <a:off x="7424928" y="1828800"/>
            <a:ext cx="1005840" cy="731520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1800"/>
          </a:p>
        </p:txBody>
      </p:sp>
      <p:sp>
        <p:nvSpPr>
          <p:cNvPr id="9" name="TextBox 8"/>
          <p:cNvSpPr txBox="1"/>
          <p:nvPr/>
        </p:nvSpPr>
        <p:spPr>
          <a:xfrm>
            <a:off x="8412480" y="1828800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737373"/>
                </a:solidFill>
              </a:rPr>
              <a:t>append() — быстро</a:t>
            </a:r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612648" y="3291840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737373"/>
                </a:solidFill>
              </a:rPr>
              <a:t>запас закончился</a:t>
            </a:r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3108960" y="329184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1800"/>
          </a:p>
        </p:txBody>
      </p:sp>
      <p:sp>
        <p:nvSpPr>
          <p:cNvPr id="12" name="Rounded Rectangle 11"/>
          <p:cNvSpPr/>
          <p:nvPr/>
        </p:nvSpPr>
        <p:spPr>
          <a:xfrm>
            <a:off x="4187952" y="329184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1800"/>
          </a:p>
        </p:txBody>
      </p:sp>
      <p:sp>
        <p:nvSpPr>
          <p:cNvPr id="13" name="Rounded Rectangle 12"/>
          <p:cNvSpPr/>
          <p:nvPr/>
        </p:nvSpPr>
        <p:spPr>
          <a:xfrm>
            <a:off x="5266944" y="329184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1800"/>
          </a:p>
        </p:txBody>
      </p:sp>
      <p:sp>
        <p:nvSpPr>
          <p:cNvPr id="14" name="Rounded Rectangle 13"/>
          <p:cNvSpPr/>
          <p:nvPr/>
        </p:nvSpPr>
        <p:spPr>
          <a:xfrm>
            <a:off x="6345936" y="329184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4</a:t>
            </a:r>
            <a:endParaRPr sz="1800"/>
          </a:p>
        </p:txBody>
      </p:sp>
      <p:sp>
        <p:nvSpPr>
          <p:cNvPr id="15" name="Rounded Rectangle 14"/>
          <p:cNvSpPr/>
          <p:nvPr/>
        </p:nvSpPr>
        <p:spPr>
          <a:xfrm>
            <a:off x="7424928" y="329184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5</a:t>
            </a:r>
            <a:endParaRPr sz="1800"/>
          </a:p>
        </p:txBody>
      </p:sp>
      <p:cxnSp>
        <p:nvCxnSpPr>
          <p:cNvPr id="16" name="Connector 15"/>
          <p:cNvCxnSpPr/>
          <p:nvPr/>
        </p:nvCxnSpPr>
        <p:spPr>
          <a:xfrm>
            <a:off x="5623560" y="4023360"/>
            <a:ext cx="0" cy="731520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8" y="4754880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737373"/>
                </a:solidFill>
              </a:rPr>
              <a:t>новый, больший</a:t>
            </a:r>
            <a:endParaRPr sz="1600"/>
          </a:p>
          <a:p>
            <a:pPr algn="l"/>
            <a:r>
              <a:rPr sz="1600">
                <a:solidFill>
                  <a:srgbClr val="737373"/>
                </a:solidFill>
              </a:rPr>
              <a:t>массив</a:t>
            </a:r>
            <a:endParaRPr sz="1600"/>
          </a:p>
        </p:txBody>
      </p:sp>
      <p:sp>
        <p:nvSpPr>
          <p:cNvPr id="18" name="Rounded Rectangle 17"/>
          <p:cNvSpPr/>
          <p:nvPr/>
        </p:nvSpPr>
        <p:spPr>
          <a:xfrm>
            <a:off x="3108960" y="475488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1800"/>
          </a:p>
        </p:txBody>
      </p:sp>
      <p:sp>
        <p:nvSpPr>
          <p:cNvPr id="19" name="Rounded Rectangle 18"/>
          <p:cNvSpPr/>
          <p:nvPr/>
        </p:nvSpPr>
        <p:spPr>
          <a:xfrm>
            <a:off x="4187952" y="475488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1800"/>
          </a:p>
        </p:txBody>
      </p:sp>
      <p:sp>
        <p:nvSpPr>
          <p:cNvPr id="20" name="Rounded Rectangle 19"/>
          <p:cNvSpPr/>
          <p:nvPr/>
        </p:nvSpPr>
        <p:spPr>
          <a:xfrm>
            <a:off x="5266944" y="475488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1800"/>
          </a:p>
        </p:txBody>
      </p:sp>
      <p:sp>
        <p:nvSpPr>
          <p:cNvPr id="21" name="Rounded Rectangle 20"/>
          <p:cNvSpPr/>
          <p:nvPr/>
        </p:nvSpPr>
        <p:spPr>
          <a:xfrm>
            <a:off x="6345936" y="475488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4</a:t>
            </a:r>
            <a:endParaRPr sz="1800"/>
          </a:p>
        </p:txBody>
      </p:sp>
      <p:sp>
        <p:nvSpPr>
          <p:cNvPr id="22" name="Rounded Rectangle 21"/>
          <p:cNvSpPr/>
          <p:nvPr/>
        </p:nvSpPr>
        <p:spPr>
          <a:xfrm>
            <a:off x="7424928" y="475488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5</a:t>
            </a:r>
            <a:endParaRPr sz="1800"/>
          </a:p>
        </p:txBody>
      </p:sp>
      <p:sp>
        <p:nvSpPr>
          <p:cNvPr id="23" name="Rounded Rectangle 22"/>
          <p:cNvSpPr/>
          <p:nvPr/>
        </p:nvSpPr>
        <p:spPr>
          <a:xfrm>
            <a:off x="8503920" y="4754880"/>
            <a:ext cx="1005840" cy="73152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6</a:t>
            </a:r>
            <a:endParaRPr sz="1800"/>
          </a:p>
        </p:txBody>
      </p:sp>
      <p:sp>
        <p:nvSpPr>
          <p:cNvPr id="24" name="Rounded Rectangle 23"/>
          <p:cNvSpPr/>
          <p:nvPr/>
        </p:nvSpPr>
        <p:spPr>
          <a:xfrm>
            <a:off x="9582912" y="4754880"/>
            <a:ext cx="1005840" cy="731520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1800"/>
          </a:p>
        </p:txBody>
      </p:sp>
      <p:sp>
        <p:nvSpPr>
          <p:cNvPr id="25" name="Rounded Rectangle 24"/>
          <p:cNvSpPr/>
          <p:nvPr/>
        </p:nvSpPr>
        <p:spPr>
          <a:xfrm>
            <a:off x="10661904" y="4754880"/>
            <a:ext cx="1005840" cy="731520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1800"/>
          </a:p>
        </p:txBody>
      </p:sp>
      <p:sp>
        <p:nvSpPr>
          <p:cNvPr id="26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Кортеж: обзор</a:t>
            </a:r>
            <a:endParaRPr sz="60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Кортеж — контейнер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empty_tuple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(10, 20)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и tuple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1600200"/>
            <a:ext cx="420624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600" b="1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endParaRPr sz="2600"/>
          </a:p>
        </p:txBody>
      </p:sp>
      <p:sp>
        <p:nvSpPr>
          <p:cNvPr id="4" name="Rounded Rectangle 3"/>
          <p:cNvSpPr/>
          <p:nvPr/>
        </p:nvSpPr>
        <p:spPr>
          <a:xfrm>
            <a:off x="6675120" y="1600200"/>
            <a:ext cx="420624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600" b="1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endParaRPr sz="2600"/>
          </a:p>
        </p:txBody>
      </p:sp>
      <p:sp>
        <p:nvSpPr>
          <p:cNvPr id="5" name="Rounded Rectangle 4"/>
          <p:cNvSpPr/>
          <p:nvPr/>
        </p:nvSpPr>
        <p:spPr>
          <a:xfrm>
            <a:off x="1280160" y="2468880"/>
            <a:ext cx="420624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гетерогенный</a:t>
            </a:r>
            <a:endParaRPr sz="1800"/>
          </a:p>
        </p:txBody>
      </p:sp>
      <p:sp>
        <p:nvSpPr>
          <p:cNvPr id="6" name="Rounded Rectangle 5"/>
          <p:cNvSpPr/>
          <p:nvPr/>
        </p:nvSpPr>
        <p:spPr>
          <a:xfrm>
            <a:off x="6675120" y="2468880"/>
            <a:ext cx="420624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гетерогенный</a:t>
            </a:r>
            <a:endParaRPr sz="1800"/>
          </a:p>
        </p:txBody>
      </p:sp>
      <p:sp>
        <p:nvSpPr>
          <p:cNvPr id="7" name="Rounded Rectangle 6"/>
          <p:cNvSpPr/>
          <p:nvPr/>
        </p:nvSpPr>
        <p:spPr>
          <a:xfrm>
            <a:off x="1280160" y="3154680"/>
            <a:ext cx="420624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ограниченный</a:t>
            </a:r>
            <a:endParaRPr sz="1800"/>
          </a:p>
        </p:txBody>
      </p:sp>
      <p:sp>
        <p:nvSpPr>
          <p:cNvPr id="8" name="Rounded Rectangle 7"/>
          <p:cNvSpPr/>
          <p:nvPr/>
        </p:nvSpPr>
        <p:spPr>
          <a:xfrm>
            <a:off x="6675120" y="3154680"/>
            <a:ext cx="420624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ограниченный</a:t>
            </a:r>
            <a:endParaRPr sz="1800"/>
          </a:p>
        </p:txBody>
      </p:sp>
      <p:sp>
        <p:nvSpPr>
          <p:cNvPr id="9" name="Rounded Rectangle 8"/>
          <p:cNvSpPr/>
          <p:nvPr/>
        </p:nvSpPr>
        <p:spPr>
          <a:xfrm>
            <a:off x="1280160" y="3840480"/>
            <a:ext cx="420624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упорядоченный</a:t>
            </a:r>
            <a:endParaRPr sz="1800"/>
          </a:p>
        </p:txBody>
      </p:sp>
      <p:sp>
        <p:nvSpPr>
          <p:cNvPr id="10" name="Rounded Rectangle 9"/>
          <p:cNvSpPr/>
          <p:nvPr/>
        </p:nvSpPr>
        <p:spPr>
          <a:xfrm>
            <a:off x="6675120" y="3840480"/>
            <a:ext cx="420624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упорядоченный</a:t>
            </a:r>
            <a:endParaRPr sz="1800"/>
          </a:p>
        </p:txBody>
      </p:sp>
      <p:sp>
        <p:nvSpPr>
          <p:cNvPr id="11" name="Rounded Rectangle 10"/>
          <p:cNvSpPr/>
          <p:nvPr/>
        </p:nvSpPr>
        <p:spPr>
          <a:xfrm>
            <a:off x="1280160" y="4526280"/>
            <a:ext cx="420624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итерируемый</a:t>
            </a:r>
            <a:endParaRPr sz="1800"/>
          </a:p>
        </p:txBody>
      </p:sp>
      <p:sp>
        <p:nvSpPr>
          <p:cNvPr id="12" name="Rounded Rectangle 11"/>
          <p:cNvSpPr/>
          <p:nvPr/>
        </p:nvSpPr>
        <p:spPr>
          <a:xfrm>
            <a:off x="6675120" y="4526280"/>
            <a:ext cx="420624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итерируемый</a:t>
            </a:r>
            <a:endParaRPr sz="1800"/>
          </a:p>
        </p:txBody>
      </p:sp>
      <p:sp>
        <p:nvSpPr>
          <p:cNvPr id="13" name="Rounded Rectangle 12"/>
          <p:cNvSpPr/>
          <p:nvPr/>
        </p:nvSpPr>
        <p:spPr>
          <a:xfrm>
            <a:off x="1280160" y="5212080"/>
            <a:ext cx="4206240" cy="54864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</a:rPr>
              <a:t>изменяем</a:t>
            </a:r>
            <a:endParaRPr sz="1800"/>
          </a:p>
        </p:txBody>
      </p:sp>
      <p:sp>
        <p:nvSpPr>
          <p:cNvPr id="14" name="Rounded Rectangle 13"/>
          <p:cNvSpPr/>
          <p:nvPr/>
        </p:nvSpPr>
        <p:spPr>
          <a:xfrm>
            <a:off x="6675120" y="5212080"/>
            <a:ext cx="4206240" cy="54864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bg1"/>
                </a:solidFill>
              </a:rPr>
              <a:t>неизменяем</a:t>
            </a:r>
            <a:endParaRPr sz="1800"/>
          </a:p>
        </p:txBody>
      </p:sp>
      <p:sp>
        <p:nvSpPr>
          <p:cNvPr id="15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5" grpId="1" animBg="1"/>
      <p:bldP spid="6" grpId="1" animBg="1"/>
      <p:bldP spid="7" grpId="0" animBg="1"/>
      <p:bldP spid="8" grpId="0" animBg="1"/>
      <p:bldP spid="7" grpId="1" animBg="1"/>
      <p:bldP spid="8" grpId="1" animBg="1"/>
      <p:bldP spid="9" grpId="0" animBg="1"/>
      <p:bldP spid="10" grpId="0" animBg="1"/>
      <p:bldP spid="9" grpId="1" animBg="1"/>
      <p:bldP spid="10" grpId="1" animBg="1"/>
      <p:bldP spid="11" grpId="0" animBg="1"/>
      <p:bldP spid="12" grpId="0" animBg="1"/>
      <p:bldP spid="11" grpId="1" animBg="1"/>
      <p:bldP spid="12" grpId="1" animBg="1"/>
      <p:bldP spid="13" grpId="0" animBg="1"/>
      <p:bldP spid="14" grpId="0" animBg="1"/>
      <p:bldP spid="13" grpId="1" animBg="1"/>
      <p:bldP spid="14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Гетерогенность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person_record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True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person_record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('Alice', 30, True)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111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person_record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Упорядоченность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rgb_color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255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rgb_color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255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Неизменяемость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rgb_color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255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rgb_color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endParaRPr sz="2400"/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'tuple' object does not support item assignment</a:t>
            </a:r>
            <a:endParaRPr sz="24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Итерируемость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172335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3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6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Где применяются кортежи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3383280" cy="14630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записи фиксированной</a:t>
            </a:r>
            <a:endParaRPr sz="2000"/>
          </a:p>
          <a:p>
            <a:pPr algn="ctr"/>
            <a:r>
              <a:rPr sz="2000">
                <a:solidFill>
                  <a:schemeClr val="accent1"/>
                </a:solidFill>
              </a:rPr>
              <a:t>структуры</a:t>
            </a:r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4389120" y="2194560"/>
            <a:ext cx="3383280" cy="14630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возврат нескольких</a:t>
            </a:r>
            <a:endParaRPr sz="2000"/>
          </a:p>
          <a:p>
            <a:pPr algn="ctr"/>
            <a:r>
              <a:rPr sz="2000">
                <a:solidFill>
                  <a:schemeClr val="accent1"/>
                </a:solidFill>
              </a:rPr>
              <a:t>значений</a:t>
            </a:r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7955279" y="2194560"/>
            <a:ext cx="3383280" cy="14630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защита от</a:t>
            </a:r>
            <a:endParaRPr sz="2000"/>
          </a:p>
          <a:p>
            <a:pPr algn="ctr"/>
            <a:r>
              <a:rPr sz="2000">
                <a:solidFill>
                  <a:schemeClr val="accent1"/>
                </a:solidFill>
              </a:rPr>
              <a:t>случайных изменений</a:t>
            </a:r>
            <a:endParaRPr sz="2000"/>
          </a:p>
        </p:txBody>
      </p:sp>
      <p:sp>
        <p:nvSpPr>
          <p:cNvPr id="8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5700"/>
              <a:t>Создание кортежей</a:t>
            </a:r>
            <a:endParaRPr sz="57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Литерал</a:t>
            </a:r>
            <a:r>
              <a:rPr lang="ru-RU"/>
              <a:t>ы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coordinates_without_parentheses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(10, 20)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coordinates_without_parentheses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(10, 20)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coordinates_without_parentheses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45"/>
              <a:t>Кортеж из одного элемента</a:t>
            </a:r>
            <a:endParaRPr sz="4445"/>
          </a:p>
        </p:txBody>
      </p:sp>
      <p:sp>
        <p:nvSpPr>
          <p:cNvPr id="3" name="TextBox 2"/>
          <p:cNvSpPr txBox="1"/>
          <p:nvPr/>
        </p:nvSpPr>
        <p:spPr>
          <a:xfrm>
            <a:off x="612648" y="1991995"/>
            <a:ext cx="1088136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not_a_tuple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single_item_tuple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not_a_tuple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'int'&gt;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single_item_tuple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'tuple'&gt;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single_item_tuple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(42,)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Пустой кортеж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empty_tuple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'tuple'&gt;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775" y="1671320"/>
            <a:ext cx="5483225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('a', 'b', 'c')</a:t>
            </a:r>
            <a:endParaRPr sz="3200"/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(1, 2, 3)</a:t>
            </a:r>
            <a:endParaRPr sz="3200"/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(0, 1, 2, 3, 4)</a:t>
            </a:r>
            <a:endParaRPr sz="3200"/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()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tuple() от кортежа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original_tuple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same_tuple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same_tuple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45"/>
              <a:t>list() </a:t>
            </a:r>
            <a:r>
              <a:rPr lang="en-US" sz="4445"/>
              <a:t>vs</a:t>
            </a:r>
            <a:r>
              <a:rPr sz="4445"/>
              <a:t> </a:t>
            </a:r>
            <a:r>
              <a:rPr sz="4445"/>
              <a:t>tuple()</a:t>
            </a:r>
            <a:endParaRPr sz="4445"/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5212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copied_list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original_list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228600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original_list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228600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copied_list</a:t>
            </a:r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3840480" y="2606040"/>
            <a:ext cx="192024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3840480" y="3886200"/>
            <a:ext cx="192024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1600"/>
          </a:p>
        </p:txBody>
      </p:sp>
      <p:cxnSp>
        <p:nvCxnSpPr>
          <p:cNvPr id="8" name="Connector 7"/>
          <p:cNvCxnSpPr/>
          <p:nvPr/>
        </p:nvCxnSpPr>
        <p:spPr>
          <a:xfrm>
            <a:off x="2926080" y="2926080"/>
            <a:ext cx="9144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206240"/>
            <a:ext cx="9144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93776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rgbClr val="737373"/>
                </a:solidFill>
              </a:rPr>
              <a:t>list(): новый объект</a:t>
            </a:r>
            <a:endParaRPr sz="1800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212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same_tuple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original_tuple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51760"/>
            <a:ext cx="228600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original_tuple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2286000" cy="5486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same_tuple</a:t>
            </a:r>
            <a:endParaRPr sz="1600"/>
          </a:p>
        </p:txBody>
      </p:sp>
      <p:sp>
        <p:nvSpPr>
          <p:cNvPr id="14" name="Rounded Rectangle 13"/>
          <p:cNvSpPr/>
          <p:nvPr/>
        </p:nvSpPr>
        <p:spPr>
          <a:xfrm>
            <a:off x="9601200" y="3246120"/>
            <a:ext cx="192024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</p:txBody>
      </p:sp>
      <p:cxnSp>
        <p:nvCxnSpPr>
          <p:cNvPr id="15" name="Connector 14"/>
          <p:cNvCxnSpPr/>
          <p:nvPr/>
        </p:nvCxnSpPr>
        <p:spPr>
          <a:xfrm>
            <a:off x="8686800" y="2926080"/>
            <a:ext cx="914400" cy="54864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686800" y="3657600"/>
            <a:ext cx="914400" cy="54864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493776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rgbClr val="737373"/>
                </a:solidFill>
              </a:rPr>
              <a:t>tuple(): тот же объект</a:t>
            </a:r>
            <a:endParaRPr sz="1800"/>
          </a:p>
        </p:txBody>
      </p:sp>
      <p:sp>
        <p:nvSpPr>
          <p:cNvPr id="18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Кортежные включения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squares_generator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squares_tuple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squares_generator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'generator'&gt;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squares_tuple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   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(1, 4, 9, 16, 25)</a:t>
            </a:r>
            <a:endParaRPr sz="24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Неизменяемость</a:t>
            </a:r>
            <a:endParaRPr sz="60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Чтение по индексу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310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rgb_color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255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rgb_color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255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rgb_color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-1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rgb_color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IndexError: tuple index out of range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Срезы кортежа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775" y="1600200"/>
            <a:ext cx="857250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(2, 3, 4)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(0, 1, 2, 3)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::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(0, 2, 4, 6, 8)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::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-1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(9, 8, 7, 6, 5, 4, 3, 2, 1, 0)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Запись невозможна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rgb_color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255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rgb_color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endParaRPr sz="2400"/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'tuple' object does not support item assignment</a:t>
            </a:r>
            <a:endParaRPr sz="24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Изменяемое внутри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record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85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90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78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record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record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('Alice', [85, 90, 78, 100])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record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'tuple' object does not support item assignment</a:t>
            </a:r>
            <a:endParaRPr sz="24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Ссылки в кортеже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2377440" cy="73152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ptr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383280" y="2194560"/>
            <a:ext cx="2377440" cy="73152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ptr</a:t>
            </a:r>
            <a:endParaRPr sz="20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103120" y="2926080"/>
            <a:ext cx="0" cy="128016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2926080"/>
            <a:ext cx="0" cy="128016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97280" y="4206240"/>
            <a:ext cx="2011680" cy="73152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2000"/>
          </a:p>
        </p:txBody>
      </p:sp>
      <p:sp>
        <p:nvSpPr>
          <p:cNvPr id="9" name="Rounded Rectangle 8"/>
          <p:cNvSpPr/>
          <p:nvPr/>
        </p:nvSpPr>
        <p:spPr>
          <a:xfrm>
            <a:off x="3383280" y="4206240"/>
            <a:ext cx="2377440" cy="731520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[85, 90, 78]</a:t>
            </a:r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accent1"/>
                </a:solidFill>
              </a:rPr>
              <a:t>ссылки менять нельзя</a:t>
            </a:r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accent1"/>
                </a:solidFill>
              </a:rPr>
              <a:t>содержимое списка</a:t>
            </a:r>
            <a:endParaRPr sz="2000"/>
          </a:p>
          <a:p>
            <a:pPr algn="l"/>
            <a:r>
              <a:rPr sz="2000">
                <a:solidFill>
                  <a:schemeClr val="accent1"/>
                </a:solidFill>
              </a:rPr>
              <a:t>менять можно</a:t>
            </a:r>
            <a:endParaRPr sz="20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Общие операции</a:t>
            </a:r>
            <a:endParaRPr sz="60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Последовательности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91640"/>
            <a:ext cx="9418320" cy="31089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554480" y="1783080"/>
            <a:ext cx="9052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sequence: упорядоченные, ограниченные, итерируемые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2011680" y="2743200"/>
            <a:ext cx="2560320" cy="10972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600" b="1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endParaRPr sz="2600"/>
          </a:p>
        </p:txBody>
      </p:sp>
      <p:sp>
        <p:nvSpPr>
          <p:cNvPr id="6" name="TextBox 5"/>
          <p:cNvSpPr txBox="1"/>
          <p:nvPr/>
        </p:nvSpPr>
        <p:spPr>
          <a:xfrm>
            <a:off x="2011680" y="40233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изменяемая</a:t>
            </a:r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4800600" y="2743200"/>
            <a:ext cx="2560320" cy="10972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600" b="1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tuple</a:t>
            </a:r>
            <a:endParaRPr sz="2600"/>
          </a:p>
        </p:txBody>
      </p:sp>
      <p:sp>
        <p:nvSpPr>
          <p:cNvPr id="8" name="TextBox 7"/>
          <p:cNvSpPr txBox="1"/>
          <p:nvPr/>
        </p:nvSpPr>
        <p:spPr>
          <a:xfrm>
            <a:off x="4800600" y="40233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неизменяемая</a:t>
            </a:r>
            <a:endParaRPr sz="1600"/>
          </a:p>
        </p:txBody>
      </p:sp>
      <p:sp>
        <p:nvSpPr>
          <p:cNvPr id="9" name="Rounded Rectangle 8"/>
          <p:cNvSpPr/>
          <p:nvPr/>
        </p:nvSpPr>
        <p:spPr>
          <a:xfrm>
            <a:off x="7589520" y="2743200"/>
            <a:ext cx="2560320" cy="10972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600" b="1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endParaRPr sz="2600"/>
          </a:p>
        </p:txBody>
      </p:sp>
      <p:sp>
        <p:nvSpPr>
          <p:cNvPr id="10" name="TextBox 9"/>
          <p:cNvSpPr txBox="1"/>
          <p:nvPr/>
        </p:nvSpPr>
        <p:spPr>
          <a:xfrm>
            <a:off x="7589520" y="40233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неизменяемая</a:t>
            </a:r>
            <a:endParaRPr sz="1600"/>
          </a:p>
        </p:txBody>
      </p:sp>
      <p:sp>
        <p:nvSpPr>
          <p:cNvPr id="11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Общие операции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237744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</p:txBody>
      </p:sp>
      <p:sp>
        <p:nvSpPr>
          <p:cNvPr id="4" name="Rounded Rectangle 3"/>
          <p:cNvSpPr/>
          <p:nvPr/>
        </p:nvSpPr>
        <p:spPr>
          <a:xfrm>
            <a:off x="3474720" y="2194560"/>
            <a:ext cx="237744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endParaRPr sz="2200"/>
          </a:p>
        </p:txBody>
      </p:sp>
      <p:sp>
        <p:nvSpPr>
          <p:cNvPr id="5" name="Rounded Rectangle 4"/>
          <p:cNvSpPr/>
          <p:nvPr/>
        </p:nvSpPr>
        <p:spPr>
          <a:xfrm>
            <a:off x="6126480" y="2194560"/>
            <a:ext cx="237744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not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endParaRPr sz="2200"/>
          </a:p>
        </p:txBody>
      </p:sp>
      <p:sp>
        <p:nvSpPr>
          <p:cNvPr id="6" name="Rounded Rectangle 5"/>
          <p:cNvSpPr/>
          <p:nvPr/>
        </p:nvSpPr>
        <p:spPr>
          <a:xfrm>
            <a:off x="8778240" y="2194560"/>
            <a:ext cx="237744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endParaRPr sz="2200"/>
          </a:p>
        </p:txBody>
      </p:sp>
      <p:sp>
        <p:nvSpPr>
          <p:cNvPr id="7" name="Rounded Rectangle 6"/>
          <p:cNvSpPr/>
          <p:nvPr/>
        </p:nvSpPr>
        <p:spPr>
          <a:xfrm>
            <a:off x="822960" y="3566160"/>
            <a:ext cx="237744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endParaRPr sz="2200"/>
          </a:p>
        </p:txBody>
      </p:sp>
      <p:sp>
        <p:nvSpPr>
          <p:cNvPr id="8" name="Rounded Rectangle 7"/>
          <p:cNvSpPr/>
          <p:nvPr/>
        </p:nvSpPr>
        <p:spPr>
          <a:xfrm>
            <a:off x="3474720" y="3566160"/>
            <a:ext cx="237744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index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200"/>
          </a:p>
        </p:txBody>
      </p:sp>
      <p:sp>
        <p:nvSpPr>
          <p:cNvPr id="9" name="Rounded Rectangle 8"/>
          <p:cNvSpPr/>
          <p:nvPr/>
        </p:nvSpPr>
        <p:spPr>
          <a:xfrm>
            <a:off x="6126480" y="3566160"/>
            <a:ext cx="237744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start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stop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200"/>
          </a:p>
        </p:txBody>
      </p:sp>
      <p:sp>
        <p:nvSpPr>
          <p:cNvPr id="10" name="Rounded Rectangle 9"/>
          <p:cNvSpPr/>
          <p:nvPr/>
        </p:nvSpPr>
        <p:spPr>
          <a:xfrm>
            <a:off x="8778240" y="3566160"/>
            <a:ext cx="237744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endParaRPr sz="2200"/>
          </a:p>
        </p:txBody>
      </p:sp>
      <p:sp>
        <p:nvSpPr>
          <p:cNvPr id="11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и not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fruits_list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"cherry"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fruits_tuple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"cherry"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fruits_list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"mango"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fruits_list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"mango"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fruits_tuple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Конкатенация 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first_list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second_list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first_list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3, 4, 5]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first_tuple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second_tuple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first_tuple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second_tuple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(1, 2, 3, 4, 5)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Оператор +=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421765"/>
            <a:ext cx="10881360" cy="489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list_id_before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               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3, 4, 5]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list_id_before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numbers_tuple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tuple_id_before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numbers_tuple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numbers_tuple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numbers_tuple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                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(1, 2, 3, 4, 5)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numbers_tuple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tuple_id_before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24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45"/>
              <a:t>list </a:t>
            </a:r>
            <a:r>
              <a:rPr lang="en-US" sz="4445"/>
              <a:t>vs</a:t>
            </a:r>
            <a:r>
              <a:rPr sz="4445"/>
              <a:t> tuple</a:t>
            </a:r>
            <a:endParaRPr sz="4445"/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5212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+=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017520"/>
            <a:ext cx="228600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endParaRPr sz="1600"/>
          </a:p>
        </p:txBody>
      </p:sp>
      <p:cxnSp>
        <p:nvCxnSpPr>
          <p:cNvPr id="5" name="Connector 4"/>
          <p:cNvCxnSpPr/>
          <p:nvPr/>
        </p:nvCxnSpPr>
        <p:spPr>
          <a:xfrm>
            <a:off x="2926080" y="3337560"/>
            <a:ext cx="9144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0" y="3017520"/>
            <a:ext cx="201168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rgbClr val="737373"/>
                </a:solidFill>
              </a:rPr>
              <a:t>тот же объект</a:t>
            </a:r>
            <a:endParaRPr sz="1800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2120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numbers_tuple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+=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>
                <a:latin typeface="Consolas" panose="020B0609020204030204"/>
                <a:cs typeface="Consolas" panose="020B0609020204030204"/>
              </a:rPr>
              <a:t> </a:t>
            </a:r>
            <a:r>
              <a:rPr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228600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numbers_tuple</a:t>
            </a:r>
            <a:endParaRPr sz="1600"/>
          </a:p>
        </p:txBody>
      </p:sp>
      <p:sp>
        <p:nvSpPr>
          <p:cNvPr id="10" name="Rounded Rectangle 9"/>
          <p:cNvSpPr/>
          <p:nvPr/>
        </p:nvSpPr>
        <p:spPr>
          <a:xfrm>
            <a:off x="9601200" y="2286000"/>
            <a:ext cx="2011680" cy="640080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9601200" y="3749039"/>
            <a:ext cx="2011680" cy="64008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</p:txBody>
      </p:sp>
      <p:cxnSp>
        <p:nvCxnSpPr>
          <p:cNvPr id="12" name="Connector 11"/>
          <p:cNvCxnSpPr/>
          <p:nvPr/>
        </p:nvCxnSpPr>
        <p:spPr>
          <a:xfrm flipV="1">
            <a:off x="8686800" y="2606040"/>
            <a:ext cx="914400" cy="59436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3474720"/>
            <a:ext cx="914400" cy="59436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493776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>
                <a:solidFill>
                  <a:srgbClr val="737373"/>
                </a:solidFill>
              </a:rPr>
              <a:t>новый объект</a:t>
            </a:r>
            <a:endParaRPr sz="1800"/>
          </a:p>
        </p:txBody>
      </p:sp>
      <p:sp>
        <p:nvSpPr>
          <p:cNvPr id="15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Повторение 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188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3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300"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300"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300">
                <a:latin typeface="Consolas" panose="020B0609020204030204"/>
                <a:cs typeface="Consolas" panose="020B0609020204030204"/>
              </a:rPr>
              <a:t>     </a:t>
            </a:r>
            <a:r>
              <a:rPr sz="23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[0, 0, 0, 0]</a:t>
            </a:r>
            <a:endParaRPr sz="2300"/>
          </a:p>
          <a:p>
            <a:pPr algn="l"/>
            <a:r>
              <a:rPr sz="23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3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300"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300"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300"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300">
                <a:latin typeface="Consolas" panose="020B0609020204030204"/>
                <a:cs typeface="Consolas" panose="020B0609020204030204"/>
              </a:rPr>
              <a:t>  </a:t>
            </a:r>
            <a:r>
              <a:rPr sz="23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(1, 2, 1, 2, 1, 2)</a:t>
            </a:r>
            <a:endParaRPr sz="2300"/>
          </a:p>
          <a:p>
            <a:pPr algn="l"/>
            <a:endParaRPr sz="2300"/>
          </a:p>
          <a:p>
            <a:pPr algn="l"/>
            <a:r>
              <a:rPr sz="23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3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300"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300">
                <a:latin typeface="Consolas" panose="020B0609020204030204"/>
                <a:cs typeface="Consolas" panose="020B0609020204030204"/>
              </a:rPr>
              <a:t> </a:t>
            </a:r>
            <a:r>
              <a:rPr sz="23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2.5</a:t>
            </a:r>
            <a:r>
              <a:rPr sz="23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300"/>
          </a:p>
          <a:p>
            <a:pPr algn="l"/>
            <a:r>
              <a:rPr sz="23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can't multiply sequence by non-int of type 'float'</a:t>
            </a:r>
            <a:endParaRPr sz="23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Повторение ≤ 0 раз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11680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()</a:t>
            </a:r>
            <a:endParaRPr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Оператор *=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00200"/>
            <a:ext cx="10881360" cy="312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1, 2, 1, 2]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numbers_tuple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numbers_tuple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numbers_tuple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(1, 2, 1, 2, 1, 2)</a:t>
            </a:r>
            <a:endParaRPr sz="28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065" y="2772410"/>
            <a:ext cx="10389870" cy="1313180"/>
          </a:xfrm>
        </p:spPr>
        <p:txBody>
          <a:bodyPr>
            <a:normAutofit fontScale="90000"/>
          </a:bodyPr>
          <a:lstStyle/>
          <a:p>
            <a:r>
              <a:t>Спасибо за внимание!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python-dep">
      <a:dk1>
        <a:srgbClr val="000000"/>
      </a:dk1>
      <a:lt1>
        <a:srgbClr val="FFFFFF"/>
      </a:lt1>
      <a:dk2>
        <a:srgbClr val="AFABAB"/>
      </a:dk2>
      <a:lt2>
        <a:srgbClr val="E7E6E6"/>
      </a:lt2>
      <a:accent1>
        <a:srgbClr val="0070C0"/>
      </a:accent1>
      <a:accent2>
        <a:srgbClr val="00B0F0"/>
      </a:accent2>
      <a:accent3>
        <a:srgbClr val="C09D29"/>
      </a:accent3>
      <a:accent4>
        <a:srgbClr val="7CB683"/>
      </a:accent4>
      <a:accent5>
        <a:srgbClr val="A05900"/>
      </a:accent5>
      <a:accent6>
        <a:srgbClr val="7030A0"/>
      </a:accent6>
      <a:hlink>
        <a:srgbClr val="0070C0"/>
      </a:hlink>
      <a:folHlink>
        <a:srgbClr val="7030A0"/>
      </a:folHlink>
    </a:clrScheme>
    <a:fontScheme name="python-department">
      <a:majorFont>
        <a:latin typeface="Arial Black"/>
        <a:ea typeface="Arial"/>
        <a:cs typeface=""/>
      </a:majorFont>
      <a:minorFont>
        <a:latin typeface="Arial Black"/>
        <a:ea typeface="Ari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12543</Words>
  <Application>WPS Presentation</Application>
  <PresentationFormat>Широкоэкранный</PresentationFormat>
  <Paragraphs>1251</Paragraphs>
  <Slides>94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94</vt:i4>
      </vt:variant>
    </vt:vector>
  </HeadingPairs>
  <TitlesOfParts>
    <vt:vector size="107" baseType="lpstr">
      <vt:lpstr>Arial</vt:lpstr>
      <vt:lpstr>SimSun</vt:lpstr>
      <vt:lpstr>Wingdings</vt:lpstr>
      <vt:lpstr>Wingdings</vt:lpstr>
      <vt:lpstr>Arial Black</vt:lpstr>
      <vt:lpstr>Tahoma</vt:lpstr>
      <vt:lpstr>Arial</vt:lpstr>
      <vt:lpstr>Segoe UI</vt:lpstr>
      <vt:lpstr>Consolas</vt:lpstr>
      <vt:lpstr>Microsoft YaHei</vt:lpstr>
      <vt:lpstr>Arial Unicode MS</vt:lpstr>
      <vt:lpstr>Calibri</vt:lpstr>
      <vt:lpstr>WPS</vt:lpstr>
      <vt:lpstr>Последовательности: списки и кортежи</vt:lpstr>
      <vt:lpstr>Список: обзор</vt:lpstr>
      <vt:lpstr>Составной тип данных</vt:lpstr>
      <vt:lpstr>Список — контейнер</vt:lpstr>
      <vt:lpstr>Характеристики списка</vt:lpstr>
      <vt:lpstr>Гетерогенность</vt:lpstr>
      <vt:lpstr>Однородные списки</vt:lpstr>
      <vt:lpstr>Ограниченность</vt:lpstr>
      <vt:lpstr>Упорядоченность</vt:lpstr>
      <vt:lpstr>Изменяемость</vt:lpstr>
      <vt:lpstr>Итерируемость</vt:lpstr>
      <vt:lpstr>Где применяются списки</vt:lpstr>
      <vt:lpstr>Создание списков</vt:lpstr>
      <vt:lpstr>Списковый литерал</vt:lpstr>
      <vt:lpstr>Вложенные списки</vt:lpstr>
      <vt:lpstr>list()</vt:lpstr>
      <vt:lpstr>list() создает копию</vt:lpstr>
      <vt:lpstr>Копия и второе имя</vt:lpstr>
      <vt:lpstr>Списковое включение</vt:lpstr>
      <vt:lpstr>Обычное включение</vt:lpstr>
      <vt:lpstr>Включение с if</vt:lpstr>
      <vt:lpstr>Тот же результат циклом</vt:lpstr>
      <vt:lpstr>Вложенные циклы</vt:lpstr>
      <vt:lpstr>Тот же результат циклом</vt:lpstr>
      <vt:lpstr>Разворачиваем матрицу</vt:lpstr>
      <vt:lpstr>Длина и индексы</vt:lpstr>
      <vt:lpstr>len()</vt:lpstr>
      <vt:lpstr>len() и вложенность</vt:lpstr>
      <vt:lpstr>Индексы списка</vt:lpstr>
      <vt:lpstr>Положительные индексы</vt:lpstr>
      <vt:lpstr>Отрицательные индексы</vt:lpstr>
      <vt:lpstr>IndexError</vt:lpstr>
      <vt:lpstr>Синтаксис среза</vt:lpstr>
      <vt:lpstr>Срез numbers[2:5]</vt:lpstr>
      <vt:lpstr>Срезы</vt:lpstr>
      <vt:lpstr>Отрицательные срезы</vt:lpstr>
      <vt:lpstr>Срез без IndexError</vt:lpstr>
      <vt:lpstr>Срез — всегда список</vt:lpstr>
      <vt:lpstr>Объект slice</vt:lpstr>
      <vt:lpstr>Именованные срезы</vt:lpstr>
      <vt:lpstr>Изменение списков</vt:lpstr>
      <vt:lpstr>Замена по индексу</vt:lpstr>
      <vt:lpstr>Замена среза</vt:lpstr>
      <vt:lpstr>Вставка через срез</vt:lpstr>
      <vt:lpstr>Удаление через срез</vt:lpstr>
      <vt:lpstr>Методы списка</vt:lpstr>
      <vt:lpstr>Методы вставки</vt:lpstr>
      <vt:lpstr>append() и extend()</vt:lpstr>
      <vt:lpstr>Методы удаления</vt:lpstr>
      <vt:lpstr>Исключения при удалении</vt:lpstr>
      <vt:lpstr>Изменение структуры</vt:lpstr>
      <vt:lpstr>index(), count(), copy()</vt:lpstr>
      <vt:lpstr>del: элемент и срез</vt:lpstr>
      <vt:lpstr>del: список и имя</vt:lpstr>
      <vt:lpstr>Итерируемость</vt:lpstr>
      <vt:lpstr>Цикл for</vt:lpstr>
      <vt:lpstr>Функции над списком</vt:lpstr>
      <vt:lpstr>Списки в CPython</vt:lpstr>
      <vt:lpstr>Массив указателей</vt:lpstr>
      <vt:lpstr>Запас памяти</vt:lpstr>
      <vt:lpstr>Кортеж: обзор</vt:lpstr>
      <vt:lpstr>Кортеж — контейнер</vt:lpstr>
      <vt:lpstr>list и tuple</vt:lpstr>
      <vt:lpstr>Гетерогенность</vt:lpstr>
      <vt:lpstr>Ограниченность</vt:lpstr>
      <vt:lpstr>Упорядоченность</vt:lpstr>
      <vt:lpstr>Неизменяемость</vt:lpstr>
      <vt:lpstr>Итерируемость</vt:lpstr>
      <vt:lpstr>Где применяются кортежи</vt:lpstr>
      <vt:lpstr>Создание кортежей</vt:lpstr>
      <vt:lpstr>Литерал: запятая</vt:lpstr>
      <vt:lpstr>Литералы</vt:lpstr>
      <vt:lpstr>Пустой кортеж</vt:lpstr>
      <vt:lpstr>tuple()</vt:lpstr>
      <vt:lpstr>tuple() от кортежа</vt:lpstr>
      <vt:lpstr>list() и tuple()</vt:lpstr>
      <vt:lpstr>Кортежные включения</vt:lpstr>
      <vt:lpstr>Неизменяемость</vt:lpstr>
      <vt:lpstr>Чтение по индексу</vt:lpstr>
      <vt:lpstr>Срезы кортежа</vt:lpstr>
      <vt:lpstr>Запись невозможна</vt:lpstr>
      <vt:lpstr>Изменяемое внутри</vt:lpstr>
      <vt:lpstr>Ссылки в кортеже</vt:lpstr>
      <vt:lpstr>Общие операции</vt:lpstr>
      <vt:lpstr>Последовательности</vt:lpstr>
      <vt:lpstr>Общие операции</vt:lpstr>
      <vt:lpstr>in и not in</vt:lpstr>
      <vt:lpstr>Конкатенация +</vt:lpstr>
      <vt:lpstr>Оператор +=</vt:lpstr>
      <vt:lpstr>+=: list и tuple</vt:lpstr>
      <vt:lpstr>Повторение *</vt:lpstr>
      <vt:lpstr>Повторение ≤ 0 раз</vt:lpstr>
      <vt:lpstr>Оператор *=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>Michail</dc:creator>
  <cp:lastModifiedBy>Michail</cp:lastModifiedBy>
  <cp:revision>851</cp:revision>
  <dcterms:created xsi:type="dcterms:W3CDTF">2026-09-01T18:40:00Z</dcterms:created>
  <dcterms:modified xsi:type="dcterms:W3CDTF">2026-09-25T16:00:39Z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3BB3359F712143D3A2563F2707420178_13</vt:lpwstr>
  </property>
</Properties>
</file>