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8"/>
  </p:notesMasterIdLst>
  <p:sldIdLst>
    <p:sldId id="256" r:id="rId3"/>
    <p:sldId id="257" r:id="rId4"/>
    <p:sldId id="258" r:id="rId5"/>
    <p:sldId id="260" r:id="rId6"/>
    <p:sldId id="262" r:id="rId7"/>
    <p:sldId id="263" r:id="rId8"/>
    <p:sldId id="266" r:id="rId9"/>
    <p:sldId id="267" r:id="rId10"/>
    <p:sldId id="270" r:id="rId11"/>
    <p:sldId id="271" r:id="rId12"/>
    <p:sldId id="272" r:id="rId13"/>
    <p:sldId id="273" r:id="rId14"/>
    <p:sldId id="276" r:id="rId15"/>
    <p:sldId id="277" r:id="rId16"/>
    <p:sldId id="459" r:id="rId17"/>
    <p:sldId id="279" r:id="rId18"/>
    <p:sldId id="282" r:id="rId19"/>
    <p:sldId id="283" r:id="rId20"/>
    <p:sldId id="284" r:id="rId21"/>
    <p:sldId id="286" r:id="rId22"/>
    <p:sldId id="287" r:id="rId23"/>
    <p:sldId id="288" r:id="rId24"/>
    <p:sldId id="290" r:id="rId25"/>
    <p:sldId id="291" r:id="rId26"/>
    <p:sldId id="293" r:id="rId27"/>
    <p:sldId id="295" r:id="rId28"/>
    <p:sldId id="296" r:id="rId29"/>
    <p:sldId id="297" r:id="rId30"/>
    <p:sldId id="300" r:id="rId31"/>
    <p:sldId id="298" r:id="rId32"/>
    <p:sldId id="460" r:id="rId33"/>
    <p:sldId id="308" r:id="rId34"/>
    <p:sldId id="307" r:id="rId35"/>
    <p:sldId id="309" r:id="rId36"/>
    <p:sldId id="311" r:id="rId37"/>
    <p:sldId id="312" r:id="rId38"/>
    <p:sldId id="315" r:id="rId39"/>
    <p:sldId id="316" r:id="rId40"/>
    <p:sldId id="317" r:id="rId41"/>
    <p:sldId id="318" r:id="rId42"/>
    <p:sldId id="319" r:id="rId43"/>
    <p:sldId id="320" r:id="rId44"/>
    <p:sldId id="323" r:id="rId45"/>
    <p:sldId id="324" r:id="rId46"/>
    <p:sldId id="325" r:id="rId47"/>
    <p:sldId id="326" r:id="rId48"/>
    <p:sldId id="328" r:id="rId49"/>
    <p:sldId id="329" r:id="rId50"/>
    <p:sldId id="330" r:id="rId51"/>
    <p:sldId id="333" r:id="rId52"/>
    <p:sldId id="334" r:id="rId53"/>
    <p:sldId id="339" r:id="rId54"/>
    <p:sldId id="340" r:id="rId55"/>
    <p:sldId id="341" r:id="rId56"/>
    <p:sldId id="344" r:id="rId57"/>
    <p:sldId id="345" r:id="rId58"/>
    <p:sldId id="346" r:id="rId59"/>
    <p:sldId id="350" r:id="rId60"/>
    <p:sldId id="351" r:id="rId61"/>
    <p:sldId id="352" r:id="rId62"/>
    <p:sldId id="353" r:id="rId63"/>
    <p:sldId id="354" r:id="rId64"/>
    <p:sldId id="355" r:id="rId65"/>
    <p:sldId id="357" r:id="rId66"/>
    <p:sldId id="359" r:id="rId67"/>
    <p:sldId id="358" r:id="rId68"/>
    <p:sldId id="364" r:id="rId69"/>
    <p:sldId id="365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5" r:id="rId78"/>
    <p:sldId id="377" r:id="rId79"/>
    <p:sldId id="380" r:id="rId80"/>
    <p:sldId id="382" r:id="rId81"/>
    <p:sldId id="383" r:id="rId82"/>
    <p:sldId id="384" r:id="rId83"/>
    <p:sldId id="386" r:id="rId84"/>
    <p:sldId id="387" r:id="rId85"/>
    <p:sldId id="388" r:id="rId86"/>
    <p:sldId id="393" r:id="rId87"/>
    <p:sldId id="394" r:id="rId88"/>
    <p:sldId id="395" r:id="rId89"/>
    <p:sldId id="392" r:id="rId90"/>
    <p:sldId id="397" r:id="rId91"/>
    <p:sldId id="400" r:id="rId92"/>
    <p:sldId id="402" r:id="rId93"/>
    <p:sldId id="404" r:id="rId94"/>
    <p:sldId id="409" r:id="rId95"/>
    <p:sldId id="410" r:id="rId96"/>
    <p:sldId id="411" r:id="rId97"/>
    <p:sldId id="412" r:id="rId98"/>
    <p:sldId id="413" r:id="rId99"/>
    <p:sldId id="414" r:id="rId100"/>
    <p:sldId id="415" r:id="rId101"/>
    <p:sldId id="416" r:id="rId102"/>
    <p:sldId id="417" r:id="rId103"/>
    <p:sldId id="421" r:id="rId104"/>
    <p:sldId id="422" r:id="rId105"/>
    <p:sldId id="423" r:id="rId106"/>
    <p:sldId id="424" r:id="rId107"/>
    <p:sldId id="425" r:id="rId108"/>
    <p:sldId id="428" r:id="rId109"/>
    <p:sldId id="432" r:id="rId110"/>
    <p:sldId id="434" r:id="rId111"/>
    <p:sldId id="435" r:id="rId112"/>
    <p:sldId id="436" r:id="rId113"/>
    <p:sldId id="438" r:id="rId114"/>
    <p:sldId id="441" r:id="rId115"/>
    <p:sldId id="442" r:id="rId116"/>
    <p:sldId id="445" r:id="rId117"/>
    <p:sldId id="447" r:id="rId118"/>
    <p:sldId id="448" r:id="rId119"/>
    <p:sldId id="449" r:id="rId120"/>
    <p:sldId id="450" r:id="rId121"/>
    <p:sldId id="451" r:id="rId122"/>
    <p:sldId id="454" r:id="rId123"/>
    <p:sldId id="453" r:id="rId124"/>
    <p:sldId id="455" r:id="rId125"/>
    <p:sldId id="457" r:id="rId126"/>
    <p:sldId id="458" r:id="rId1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683"/>
    <a:srgbClr val="C09D29"/>
    <a:srgbClr val="A05900"/>
    <a:srgbClr val="7030A0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2" Type="http://schemas.openxmlformats.org/officeDocument/2006/relationships/commentAuthors" Target="commentAuthors.xml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29" Type="http://schemas.openxmlformats.org/officeDocument/2006/relationships/presProps" Target="presProps.xml"/><Relationship Id="rId128" Type="http://schemas.openxmlformats.org/officeDocument/2006/relationships/notesMaster" Target="notesMasters/notesMaster1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455" y="2226310"/>
            <a:ext cx="10676255" cy="1859280"/>
          </a:xfrm>
        </p:spPr>
        <p:txBody>
          <a:bodyPr>
            <a:normAutofit fontScale="90000"/>
          </a:bodyPr>
          <a:lstStyle/>
          <a:p>
            <a:r>
              <a:rPr lang="ru-RU" sz="6665"/>
              <a:t>Последовательности:</a:t>
            </a:r>
            <a:br>
              <a:rPr lang="ru-RU" sz="6665"/>
            </a:br>
            <a:r>
              <a:rPr lang="ru-RU" sz="6665"/>
              <a:t>с</a:t>
            </a:r>
            <a:r>
              <a:rPr sz="6665"/>
              <a:t>троки</a:t>
            </a:r>
            <a:endParaRPr sz="6665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9060" y="4744720"/>
            <a:ext cx="5819140" cy="640715"/>
          </a:xfrm>
        </p:spPr>
        <p:txBody>
          <a:bodyPr>
            <a:noAutofit/>
          </a:bodyPr>
          <a:lstStyle/>
          <a:p>
            <a:r>
              <a:rPr sz="2200"/>
              <a:t>Докладчик: Евграфов Михаил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Строки: обзор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Характеристики строки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гомогенная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ограниченная</a:t>
            </a:r>
            <a:endParaRPr sz="22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упорядоченная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итерируемая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неизменяемая</a:t>
            </a:r>
            <a:endParaRPr sz="2200"/>
          </a:p>
        </p:txBody>
      </p:sp>
      <p:sp>
        <p:nvSpPr>
          <p:cNvPr id="1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Гомогенность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first_char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first_char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first_char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'str'&gt;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first_char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Ограниченность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world"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12 - пробел тоже считаются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символами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Упорядоченность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 -- первый символ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 -- последний символ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Итерируемость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char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char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Неизменяемость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"P"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'str' object does not support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применяются строки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ввод и вывод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имена и пароли</a:t>
            </a:r>
            <a:endParaRPr sz="22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пути к файлам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JSON, CSV, HTML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команды и запросы</a:t>
            </a:r>
            <a:endParaRPr sz="2200"/>
          </a:p>
        </p:txBody>
      </p:sp>
      <p:sp>
        <p:nvSpPr>
          <p:cNvPr id="1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str() и repr()</a:t>
            </a:r>
            <a:endParaRPr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''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42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3.14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(True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(None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str() для </a:t>
            </a:r>
            <a:r>
              <a:rPr lang="ru-RU" sz="4445"/>
              <a:t>составных объектов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[1, 2, 3]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(1, 'a')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'str'&gt; - одна строка, а не список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42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"42"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42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42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"42"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'42'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repr() и служебные символы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\n"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 перевод строки не виден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'hello \n'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402715"/>
            <a:ext cx="9015095" cy="457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decimal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Decimal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Decimal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"3.14"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f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"number as str: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)}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"number as repr:</a:t>
            </a: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repr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)}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number as str: 3.14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number as repr: Decimal('3.14')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str vs repr</a:t>
            </a:r>
            <a:endParaRPr lang="en-US" altLang="ru-RU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12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Что выбрать?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700000" y="1650000"/>
            <a:ext cx="49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obj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12" name="Rounded Rectangle 12"/>
          <p:cNvSpPr/>
          <p:nvPr/>
        </p:nvSpPr>
        <p:spPr>
          <a:xfrm>
            <a:off x="700000" y="2731470"/>
            <a:ext cx="49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для человека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700000" y="4193245"/>
            <a:ext cx="49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использует print()</a:t>
            </a:r>
            <a:endParaRPr sz="2200"/>
          </a:p>
        </p:txBody>
      </p:sp>
      <p:sp>
        <p:nvSpPr>
          <p:cNvPr id="15" name="TextBox 15"/>
          <p:cNvSpPr txBox="1"/>
          <p:nvPr/>
        </p:nvSpPr>
        <p:spPr>
          <a:xfrm>
            <a:off x="6500000" y="1650000"/>
            <a:ext cx="49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obj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16" name="Rounded Rectangle 16"/>
          <p:cNvSpPr/>
          <p:nvPr/>
        </p:nvSpPr>
        <p:spPr>
          <a:xfrm>
            <a:off x="6500000" y="2731470"/>
            <a:ext cx="49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для разработчика</a:t>
            </a:r>
            <a:endParaRPr sz="2200"/>
          </a:p>
        </p:txBody>
      </p:sp>
      <p:sp>
        <p:nvSpPr>
          <p:cNvPr id="18" name="Rounded Rectangle 18"/>
          <p:cNvSpPr/>
          <p:nvPr/>
        </p:nvSpPr>
        <p:spPr>
          <a:xfrm>
            <a:off x="6500000" y="4193245"/>
            <a:ext cx="49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REPL и отладка</a:t>
            </a:r>
            <a:endParaRPr sz="2200"/>
          </a:p>
        </p:txBody>
      </p:sp>
      <p:sp>
        <p:nvSpPr>
          <p:cNvPr id="19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6" grpId="0" bldLvl="0" animBg="1"/>
      <p:bldP spid="12" grpId="1" animBg="1"/>
      <p:bldP spid="16" grpId="1" animBg="1"/>
      <p:bldP spid="14" grpId="0" bldLvl="0" animBg="1"/>
      <p:bldP spid="18" grpId="0" bldLvl="0" animBg="1"/>
      <p:bldP spid="14" grpId="1" animBg="1"/>
      <p:bldP spid="1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800"/>
              <a:t>Строковые литералы</a:t>
            </a:r>
            <a:endParaRPr sz="5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/>
              <a:t>Одинарные и двойные кавычки</a:t>
            </a:r>
            <a:endParaRPr sz="3800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single_quoted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'hello'</a:t>
            </a:r>
            <a:endParaRPr sz="2600"/>
          </a:p>
          <a:p>
            <a:pPr algn="l"/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double_quoted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endParaRPr sz="2600"/>
          </a:p>
          <a:p>
            <a:pPr algn="l"/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single_quoted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600">
                <a:latin typeface="Consolas" panose="020B0609020204030204"/>
                <a:cs typeface="Consolas" panose="020B0609020204030204"/>
              </a:rPr>
              <a:t> 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double_quoted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single_quoted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'str'&gt;</a:t>
            </a:r>
            <a:endParaRPr sz="2600"/>
          </a:p>
          <a:p>
            <a:pPr algn="l"/>
            <a:r>
              <a:rPr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double_quoted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6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'str'&gt;</a:t>
            </a:r>
            <a:endParaRPr sz="26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Кавычки внутри текста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"It's a sunny day"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It's a sunny day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'He said: "Hello"'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 said: "Hello"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'It\'s "quoted"'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It's "quoted"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Пустая строка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empty_string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empty_string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empty_string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Литерал — одн</a:t>
            </a:r>
            <a:r>
              <a:rPr lang="ru-RU" sz="4445"/>
              <a:t>а</a:t>
            </a:r>
            <a:r>
              <a:rPr sz="4445"/>
              <a:t> строк</a:t>
            </a:r>
            <a:r>
              <a:rPr lang="ru-RU" sz="4445"/>
              <a:t>а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2280285"/>
            <a:ext cx="1088136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 line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line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SyntaxError: unterminated string literal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Тройные кавычки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924496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poem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"""Roses are red,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Violets are blue."""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poem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Roses are red,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Violets are blue.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poem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'Roses are red,\nViolets are blue.'</a:t>
            </a:r>
            <a:endParaRPr sz="3200"/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/>
              <a:t>Сохранение табуляции</a:t>
            </a:r>
            <a:endParaRPr lang="ru-RU" sz="3600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first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second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'\nfirst\nsecond\n'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Экранирование перевода строки</a:t>
            </a:r>
            <a:endParaRPr sz="3600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"""\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first</a:t>
            </a:r>
            <a:endParaRPr sz="3200"/>
          </a:p>
          <a:p>
            <a:pPr algn="l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second"""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'first\nsecond'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Неявная конкатенация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251333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"world"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world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Разбиение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long_message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"This is a very long message, "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"which is split into several lines "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"to keep the code readable."</a:t>
            </a:r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long_message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This is a very long message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...</a:t>
            </a:r>
            <a:endParaRPr lang="ru-RU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Пропущенная запятая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['apple', 'bananacherry']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fruits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Escape-символы</a:t>
            </a:r>
            <a:endParaRPr sz="6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Escape-последовательности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608400" y="19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\n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перевод строки</a:t>
            </a:r>
            <a:endParaRPr sz="1600"/>
          </a:p>
        </p:txBody>
      </p:sp>
      <p:sp>
        <p:nvSpPr>
          <p:cNvPr id="12" name="Rounded Rectangle 12"/>
          <p:cNvSpPr/>
          <p:nvPr/>
        </p:nvSpPr>
        <p:spPr>
          <a:xfrm>
            <a:off x="3408400" y="19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\t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табуляция</a:t>
            </a:r>
            <a:endParaRPr sz="1600"/>
          </a:p>
        </p:txBody>
      </p:sp>
      <p:sp>
        <p:nvSpPr>
          <p:cNvPr id="13" name="Rounded Rectangle 13"/>
          <p:cNvSpPr/>
          <p:nvPr/>
        </p:nvSpPr>
        <p:spPr>
          <a:xfrm>
            <a:off x="6208400" y="19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\\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обратный слеш</a:t>
            </a:r>
            <a:endParaRPr sz="1600"/>
          </a:p>
        </p:txBody>
      </p:sp>
      <p:sp>
        <p:nvSpPr>
          <p:cNvPr id="14" name="Rounded Rectangle 14"/>
          <p:cNvSpPr/>
          <p:nvPr/>
        </p:nvSpPr>
        <p:spPr>
          <a:xfrm>
            <a:off x="9008400" y="19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\'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одинарная кавычка</a:t>
            </a:r>
            <a:endParaRPr sz="1600"/>
          </a:p>
        </p:txBody>
      </p:sp>
      <p:sp>
        <p:nvSpPr>
          <p:cNvPr id="15" name="Rounded Rectangle 15"/>
          <p:cNvSpPr/>
          <p:nvPr/>
        </p:nvSpPr>
        <p:spPr>
          <a:xfrm>
            <a:off x="608400" y="36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\"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двойная кавычка</a:t>
            </a:r>
            <a:endParaRPr sz="1600"/>
          </a:p>
        </p:txBody>
      </p:sp>
      <p:sp>
        <p:nvSpPr>
          <p:cNvPr id="16" name="Rounded Rectangle 16"/>
          <p:cNvSpPr/>
          <p:nvPr/>
        </p:nvSpPr>
        <p:spPr>
          <a:xfrm>
            <a:off x="3408400" y="36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\v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верт. табуляция</a:t>
            </a:r>
            <a:endParaRPr sz="1600"/>
          </a:p>
        </p:txBody>
      </p:sp>
      <p:sp>
        <p:nvSpPr>
          <p:cNvPr id="17" name="Rounded Rectangle 17"/>
          <p:cNvSpPr/>
          <p:nvPr/>
        </p:nvSpPr>
        <p:spPr>
          <a:xfrm>
            <a:off x="6208400" y="36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\b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backspace</a:t>
            </a:r>
            <a:endParaRPr sz="1600"/>
          </a:p>
        </p:txBody>
      </p:sp>
      <p:sp>
        <p:nvSpPr>
          <p:cNvPr id="18" name="Rounded Rectangle 18"/>
          <p:cNvSpPr/>
          <p:nvPr/>
        </p:nvSpPr>
        <p:spPr>
          <a:xfrm>
            <a:off x="9008400" y="3600000"/>
            <a:ext cx="25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\r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возврат каретки</a:t>
            </a:r>
            <a:endParaRPr sz="1600"/>
          </a:p>
        </p:txBody>
      </p:sp>
      <p:sp>
        <p:nvSpPr>
          <p:cNvPr id="19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Один символ в строке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371725"/>
            <a:ext cx="1088136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"\n"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"\\"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"a\tb"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escape-символы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"first\nsecond"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first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second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"Alice\t30"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Alice   30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'It\'s a sunny day'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It's a sunny day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 said: \"Hello\""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 said: "Hello"</a:t>
            </a:r>
            <a:endParaRPr sz="2800"/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Следствие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"C:\new\table"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path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C: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ew     able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>
                <a:sym typeface="+mn-ea"/>
              </a:rPr>
              <a:t>\\ — обратный слеш</a:t>
            </a:r>
            <a:endParaRPr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path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"C:\\Users\\Alice\\notes.txt"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C:\Users\Alice\notes.txt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r-, f- и t-строки</a:t>
            </a:r>
            <a:endParaRPr sz="6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r-строка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330" y="1501140"/>
            <a:ext cx="859472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regular_path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"C:\\new\\table"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raw_path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r"C:\new\table"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raw_path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C:\new\table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regular_path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raw_path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это одна и та же строка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r"\n"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r-строк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r"say \"hi\""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say \"hi\"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r"C:\folder\"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SyntaxError: unterminated string literal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Склейка через 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"Name: 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 age: 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Name: Alice, age: 30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f-строка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"Name: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, age: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Name: Alice, age: 30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Выражения внутри {}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120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quantity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"Total: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quantity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Total: 360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"Name: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upper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endParaRPr sz="24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Name: ALICE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"Even: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quantity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   </a:t>
            </a:r>
            <a:endParaRPr sz="24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Even: False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"Status: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'ok'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'low'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Status: ok</a:t>
            </a:r>
            <a:endParaRPr sz="24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/>
              <a:t>Фигурные скобки как символы</a:t>
            </a:r>
            <a:endParaRPr sz="3800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"Set: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Set: {5}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{value} - скобки удвоены, подстановки нет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Отладочный вывод {value=}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"hi"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counter=7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text='hi'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counter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counter * 2 = 14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Флаг !r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"hello\n"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!r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'hello\n'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t-строка (Python 3.14)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Python 3.14+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!"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'string.templatelib.Template'&gt;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651000"/>
          </a:xfrm>
        </p:spPr>
        <p:txBody>
          <a:bodyPr>
            <a:noAutofit/>
          </a:bodyPr>
          <a:lstStyle/>
          <a:p>
            <a:r>
              <a:rPr lang="ru-RU" sz="5000"/>
              <a:t>Строки и последовательности</a:t>
            </a:r>
            <a:endParaRPr lang="ru-RU" sz="5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 b"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</a:t>
            </a:r>
            <a:endParaRPr sz="32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3 - пробел тоже символ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и not 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world"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символ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"world"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подстрока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world"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 - нет такой подстроки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"planet"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Конкатенация 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first_part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second_part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"world"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first_part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second_part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world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Оператор +=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"def"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 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abcdef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Повторение *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155825"/>
            <a:ext cx="10881360" cy="204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ababab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"-"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--------------------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(пустая строка)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(пустая строка)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Индексы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IndexError: string index out of range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Присваивание по индексу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"python"</a:t>
            </a:r>
            <a:endParaRPr sz="3200"/>
          </a:p>
          <a:p>
            <a:pPr algn="l"/>
            <a:endParaRPr sz="3200">
              <a:solidFill>
                <a:srgbClr val="003860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"P"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'str' object does not support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ru-RU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Обход в цикле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char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char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800"/>
              <a:t>Сравнение и логика</a:t>
            </a:r>
            <a:endParaRPr sz="5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Равенство == и !=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endParaRPr sz="32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 - регистр важен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 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 - пробел в конце тоже символ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!=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строк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260000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 символам слева направо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4480560" y="260000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первая пара различий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8138160" y="260000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меньший код — меньшая строка</a:t>
            </a:r>
            <a:endParaRPr sz="2000"/>
          </a:p>
        </p:txBody>
      </p:sp>
      <p:cxnSp>
        <p:nvCxnSpPr>
          <p:cNvPr id="14" name="Connector 14"/>
          <p:cNvCxnSpPr/>
          <p:nvPr/>
        </p:nvCxnSpPr>
        <p:spPr>
          <a:xfrm>
            <a:off x="4023360" y="3240080"/>
            <a:ext cx="4572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>
            <a:off x="7680960" y="3240080"/>
            <a:ext cx="4572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Лексикографический порядок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 - 'a' (97) &lt; 'b' (98)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"apricot"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 - 'p' (112) &lt; 'r' (114)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 - "app" - префикс, а значит короче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по кодам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1000000" y="2400000"/>
            <a:ext cx="32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"Zebra"</a:t>
            </a:r>
            <a:endParaRPr sz="3200"/>
          </a:p>
        </p:txBody>
      </p:sp>
      <p:sp>
        <p:nvSpPr>
          <p:cNvPr id="12" name="TextBox 12"/>
          <p:cNvSpPr txBox="1"/>
          <p:nvPr/>
        </p:nvSpPr>
        <p:spPr>
          <a:xfrm>
            <a:off x="4300000" y="2400000"/>
            <a:ext cx="360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endParaRPr sz="6000"/>
          </a:p>
        </p:txBody>
      </p:sp>
      <p:sp>
        <p:nvSpPr>
          <p:cNvPr id="13" name="Rounded Rectangle 13"/>
          <p:cNvSpPr/>
          <p:nvPr/>
        </p:nvSpPr>
        <p:spPr>
          <a:xfrm>
            <a:off x="8000000" y="2400000"/>
            <a:ext cx="32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endParaRPr sz="3200"/>
          </a:p>
        </p:txBody>
      </p:sp>
      <p:sp>
        <p:nvSpPr>
          <p:cNvPr id="14" name="TextBox 14"/>
          <p:cNvSpPr txBox="1"/>
          <p:nvPr/>
        </p:nvSpPr>
        <p:spPr>
          <a:xfrm>
            <a:off x="1000000" y="3820000"/>
            <a:ext cx="32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"Z"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endParaRPr sz="2000"/>
          </a:p>
        </p:txBody>
      </p:sp>
      <p:sp>
        <p:nvSpPr>
          <p:cNvPr id="15" name="TextBox 15"/>
          <p:cNvSpPr txBox="1"/>
          <p:nvPr/>
        </p:nvSpPr>
        <p:spPr>
          <a:xfrm>
            <a:off x="8000000" y="3820000"/>
            <a:ext cx="32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97</a:t>
            </a:r>
            <a:endParaRPr sz="2000"/>
          </a:p>
        </p:txBody>
      </p:sp>
      <p:sp>
        <p:nvSpPr>
          <p:cNvPr id="16" name="TextBox 16"/>
          <p:cNvSpPr txBox="1"/>
          <p:nvPr/>
        </p:nvSpPr>
        <p:spPr>
          <a:xfrm>
            <a:off x="1000000" y="4600000"/>
            <a:ext cx="10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&lt;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97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400"/>
          </a:p>
        </p:txBody>
      </p:sp>
      <p:sp>
        <p:nvSpPr>
          <p:cNvPr id="17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Истинность строк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"0"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"False"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Логический контекст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user_input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user_input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"Got input"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"Empty input"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Empty input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Значение по умолчанию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display_name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"anonymous"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display_name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anonymous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and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"world"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world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and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"world"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(пустая строка)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800"/>
              <a:t>Работа с кодировкой</a:t>
            </a:r>
            <a:endParaRPr lang="ru-RU" sz="5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ord() и chr()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1500000" y="2400000"/>
            <a:ext cx="26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endParaRPr sz="4000"/>
          </a:p>
        </p:txBody>
      </p:sp>
      <p:sp>
        <p:nvSpPr>
          <p:cNvPr id="12" name="Rounded Rectangle 12"/>
          <p:cNvSpPr/>
          <p:nvPr/>
        </p:nvSpPr>
        <p:spPr>
          <a:xfrm>
            <a:off x="8100000" y="2400000"/>
            <a:ext cx="26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4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65</a:t>
            </a:r>
            <a:endParaRPr sz="4000"/>
          </a:p>
        </p:txBody>
      </p:sp>
      <p:sp>
        <p:nvSpPr>
          <p:cNvPr id="13" name="TextBox 13"/>
          <p:cNvSpPr txBox="1"/>
          <p:nvPr/>
        </p:nvSpPr>
        <p:spPr>
          <a:xfrm>
            <a:off x="4100000" y="1800000"/>
            <a:ext cx="40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cxnSp>
        <p:nvCxnSpPr>
          <p:cNvPr id="14" name="Connector 14"/>
          <p:cNvCxnSpPr/>
          <p:nvPr/>
        </p:nvCxnSpPr>
        <p:spPr>
          <a:xfrm>
            <a:off x="4200000" y="2800000"/>
            <a:ext cx="38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 flipH="1">
            <a:off x="4200000" y="3300000"/>
            <a:ext cx="38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6"/>
          <p:cNvSpPr txBox="1"/>
          <p:nvPr/>
        </p:nvSpPr>
        <p:spPr>
          <a:xfrm>
            <a:off x="4100000" y="3500000"/>
            <a:ext cx="40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17" name="TextBox 17"/>
          <p:cNvSpPr txBox="1"/>
          <p:nvPr/>
        </p:nvSpPr>
        <p:spPr>
          <a:xfrm>
            <a:off x="1500000" y="4700000"/>
            <a:ext cx="9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rgbClr val="737373"/>
                </a:solidFill>
              </a:rPr>
              <a:t>символ ↔ кодовая позиция Unicode</a:t>
            </a:r>
            <a:endParaRPr sz="2000"/>
          </a:p>
        </p:txBody>
      </p:sp>
      <p:sp>
        <p:nvSpPr>
          <p:cNvPr id="1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  <p:bldP spid="13" grpId="1"/>
      <p:bldP spid="12" grpId="1" animBg="1"/>
      <p:bldP spid="16" grpId="0"/>
      <p:bldP spid="17" grpId="0"/>
      <p:bldP spid="16" grpId="1"/>
      <p:bldP spid="17" grpId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97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"0"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48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"€"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8364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"ab"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TypeError: ord() expected a character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...</a:t>
            </a:r>
            <a:endParaRPr sz="3200"/>
          </a:p>
          <a:p>
            <a:pPr algn="l"/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306320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8364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€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0x20ac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€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chr(): ValueError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ValueError: chr() arg not in range(0x110000)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0x110000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ValueError: chr() arg not in range(0x110000)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ord() и chr() обратны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979295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"Z"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Z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ord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chr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1234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1234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871345"/>
          </a:xfrm>
        </p:spPr>
        <p:txBody>
          <a:bodyPr>
            <a:noAutofit/>
          </a:bodyPr>
          <a:lstStyle/>
          <a:p>
            <a:r>
              <a:rPr sz="5400"/>
              <a:t>Способы форматирования</a:t>
            </a:r>
            <a:endParaRPr sz="5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Три способа форматирования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2000"/>
          </a:p>
          <a:p>
            <a:pPr algn="ctr"/>
            <a:r>
              <a:rPr sz="1600">
                <a:solidFill>
                  <a:srgbClr val="737373"/>
                </a:solidFill>
              </a:rPr>
              <a:t>по умолчанию</a:t>
            </a:r>
            <a:endParaRPr sz="1600"/>
          </a:p>
        </p:txBody>
      </p:sp>
      <p:sp>
        <p:nvSpPr>
          <p:cNvPr id="12" name="Rounded Rectangle 12"/>
          <p:cNvSpPr/>
          <p:nvPr/>
        </p:nvSpPr>
        <p:spPr>
          <a:xfrm>
            <a:off x="44805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"{}"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  <a:p>
            <a:pPr algn="ctr"/>
            <a:r>
              <a:rPr sz="1600">
                <a:solidFill>
                  <a:srgbClr val="737373"/>
                </a:solidFill>
              </a:rPr>
              <a:t>шаблон отдельно от данных</a:t>
            </a:r>
            <a:endParaRPr sz="1600"/>
          </a:p>
        </p:txBody>
      </p:sp>
      <p:sp>
        <p:nvSpPr>
          <p:cNvPr id="13" name="Rounded Rectangle 13"/>
          <p:cNvSpPr/>
          <p:nvPr/>
        </p:nvSpPr>
        <p:spPr>
          <a:xfrm>
            <a:off x="81381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"%s"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endParaRPr sz="2000"/>
          </a:p>
          <a:p>
            <a:pPr algn="ctr"/>
            <a:r>
              <a:rPr sz="1600">
                <a:solidFill>
                  <a:srgbClr val="737373"/>
                </a:solidFill>
              </a:rPr>
              <a:t>старый код и logging</a:t>
            </a:r>
            <a:endParaRPr sz="1600"/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f-строки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is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years old"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 is 30 years old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"Next year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will be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Next year Alice will be 31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"{} is {} years old"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 is 30 years old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"{1} is {0} years old"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Bob is 30 years old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"{name} is {age} years old"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"Carol"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Carol is 25 years old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"{0} {0} {0}"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"echo"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echo echo echo</a:t>
            </a:r>
            <a:endParaRPr sz="24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format(): индексы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point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"Dave"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"Eve"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"x={0[0]}, y={0[1]}"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x=3, y=4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"Hi, {0[1]}!"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Hi, Eve!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format(): шаблон отдельно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GREETING_TEMPLATE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lang="en-US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lang="en-US" sz="24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{name}! You have {messages_count} new messages."</a:t>
            </a:r>
            <a:endParaRPr sz="24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GREETING_TEMPLATE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messages_count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Alice! You have 5 new messages.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GREETING_TEMPLATE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format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messages_count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Bob! You have 0 new messages.</a:t>
            </a:r>
            <a:endParaRPr sz="24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Оператор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92.456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"%s is %d years old"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 is 30 years old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"Score: %f"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Score: 92.456000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"Progress: %d%%"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Progress: 75%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Ловушка с кортежем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point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"Point: %s"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not all arguments converted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"Point: %s"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point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Point: (1, 2)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200"/>
              <a:t>Форматирование чисел</a:t>
            </a:r>
            <a:endParaRPr sz="52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Точность: тип 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3.14159265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:.0f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3.14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:.4f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3.1416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3.141593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5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:.2f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lang="en-US"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5.00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e и 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big_number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123456.789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big_number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:.2e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1.23e+05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big_number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:.3g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1.23e+05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3.14159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:.3g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3.14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0.5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:.3g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0.5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Системы счисления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255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:b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11111111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:o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377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ff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FF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:#x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0xff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:#b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0b11111111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Проценты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0.256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:%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25.600000%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:.1%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25.6%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:.0%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26%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:.0%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100%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Разделители разрядов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2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population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1234567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population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:,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1,234,567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population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:_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1_234_567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1234567.891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:,.2f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1,234,567.89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Ширина и нули слева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440305"/>
            <a:ext cx="10881360" cy="204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:6d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 42]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:06d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[000042]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:06d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[-00042]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3.14159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:08.3f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[0003.142]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800"/>
              <a:t>Выравнивание строк</a:t>
            </a:r>
            <a:endParaRPr sz="58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ljust(), rjust(), center()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400" y="2000000"/>
            <a:ext cx="35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ljust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2" name="Rounded Rectangle 12"/>
          <p:cNvSpPr/>
          <p:nvPr/>
        </p:nvSpPr>
        <p:spPr>
          <a:xfrm>
            <a:off x="430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c</a:t>
            </a:r>
            <a:endParaRPr sz="3200"/>
          </a:p>
        </p:txBody>
      </p:sp>
      <p:sp>
        <p:nvSpPr>
          <p:cNvPr id="13" name="Rounded Rectangle 13"/>
          <p:cNvSpPr/>
          <p:nvPr/>
        </p:nvSpPr>
        <p:spPr>
          <a:xfrm>
            <a:off x="525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14" name="Rounded Rectangle 14"/>
          <p:cNvSpPr/>
          <p:nvPr/>
        </p:nvSpPr>
        <p:spPr>
          <a:xfrm>
            <a:off x="620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t</a:t>
            </a:r>
            <a:endParaRPr sz="3200"/>
          </a:p>
        </p:txBody>
      </p:sp>
      <p:sp>
        <p:nvSpPr>
          <p:cNvPr id="15" name="Rounded Rectangle 15"/>
          <p:cNvSpPr/>
          <p:nvPr/>
        </p:nvSpPr>
        <p:spPr>
          <a:xfrm>
            <a:off x="715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16" name="Rounded Rectangle 16"/>
          <p:cNvSpPr/>
          <p:nvPr/>
        </p:nvSpPr>
        <p:spPr>
          <a:xfrm>
            <a:off x="810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17" name="Rounded Rectangle 17"/>
          <p:cNvSpPr/>
          <p:nvPr/>
        </p:nvSpPr>
        <p:spPr>
          <a:xfrm>
            <a:off x="905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18" name="Rounded Rectangle 18"/>
          <p:cNvSpPr/>
          <p:nvPr/>
        </p:nvSpPr>
        <p:spPr>
          <a:xfrm>
            <a:off x="10000000" y="2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19" name="TextBox 19"/>
          <p:cNvSpPr txBox="1"/>
          <p:nvPr/>
        </p:nvSpPr>
        <p:spPr>
          <a:xfrm>
            <a:off x="608400" y="3500000"/>
            <a:ext cx="35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rjust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20" name="Rounded Rectangle 20"/>
          <p:cNvSpPr/>
          <p:nvPr/>
        </p:nvSpPr>
        <p:spPr>
          <a:xfrm>
            <a:off x="430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21" name="Rounded Rectangle 21"/>
          <p:cNvSpPr/>
          <p:nvPr/>
        </p:nvSpPr>
        <p:spPr>
          <a:xfrm>
            <a:off x="525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22" name="Rounded Rectangle 22"/>
          <p:cNvSpPr/>
          <p:nvPr/>
        </p:nvSpPr>
        <p:spPr>
          <a:xfrm>
            <a:off x="620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23" name="Rounded Rectangle 23"/>
          <p:cNvSpPr/>
          <p:nvPr/>
        </p:nvSpPr>
        <p:spPr>
          <a:xfrm>
            <a:off x="715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24" name="Rounded Rectangle 24"/>
          <p:cNvSpPr/>
          <p:nvPr/>
        </p:nvSpPr>
        <p:spPr>
          <a:xfrm>
            <a:off x="810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c</a:t>
            </a:r>
            <a:endParaRPr sz="3200"/>
          </a:p>
        </p:txBody>
      </p:sp>
      <p:sp>
        <p:nvSpPr>
          <p:cNvPr id="25" name="Rounded Rectangle 25"/>
          <p:cNvSpPr/>
          <p:nvPr/>
        </p:nvSpPr>
        <p:spPr>
          <a:xfrm>
            <a:off x="905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26" name="Rounded Rectangle 26"/>
          <p:cNvSpPr/>
          <p:nvPr/>
        </p:nvSpPr>
        <p:spPr>
          <a:xfrm>
            <a:off x="10000000" y="35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t</a:t>
            </a:r>
            <a:endParaRPr sz="3200"/>
          </a:p>
        </p:txBody>
      </p:sp>
      <p:sp>
        <p:nvSpPr>
          <p:cNvPr id="27" name="TextBox 27"/>
          <p:cNvSpPr txBox="1"/>
          <p:nvPr/>
        </p:nvSpPr>
        <p:spPr>
          <a:xfrm>
            <a:off x="608400" y="5000000"/>
            <a:ext cx="35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center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28" name="Rounded Rectangle 28"/>
          <p:cNvSpPr/>
          <p:nvPr/>
        </p:nvSpPr>
        <p:spPr>
          <a:xfrm>
            <a:off x="430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29" name="Rounded Rectangle 29"/>
          <p:cNvSpPr/>
          <p:nvPr/>
        </p:nvSpPr>
        <p:spPr>
          <a:xfrm>
            <a:off x="525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30" name="Rounded Rectangle 30"/>
          <p:cNvSpPr/>
          <p:nvPr/>
        </p:nvSpPr>
        <p:spPr>
          <a:xfrm>
            <a:off x="620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c</a:t>
            </a:r>
            <a:endParaRPr sz="3200"/>
          </a:p>
        </p:txBody>
      </p:sp>
      <p:sp>
        <p:nvSpPr>
          <p:cNvPr id="31" name="Rounded Rectangle 31"/>
          <p:cNvSpPr/>
          <p:nvPr/>
        </p:nvSpPr>
        <p:spPr>
          <a:xfrm>
            <a:off x="715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32" name="Rounded Rectangle 32"/>
          <p:cNvSpPr/>
          <p:nvPr/>
        </p:nvSpPr>
        <p:spPr>
          <a:xfrm>
            <a:off x="810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t</a:t>
            </a:r>
            <a:endParaRPr sz="3200"/>
          </a:p>
        </p:txBody>
      </p:sp>
      <p:sp>
        <p:nvSpPr>
          <p:cNvPr id="33" name="Rounded Rectangle 33"/>
          <p:cNvSpPr/>
          <p:nvPr/>
        </p:nvSpPr>
        <p:spPr>
          <a:xfrm>
            <a:off x="905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34" name="Rounded Rectangle 34"/>
          <p:cNvSpPr/>
          <p:nvPr/>
        </p:nvSpPr>
        <p:spPr>
          <a:xfrm>
            <a:off x="10000000" y="5000000"/>
            <a:ext cx="9000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 sz="3200"/>
          </a:p>
        </p:txBody>
      </p:sp>
      <p:sp>
        <p:nvSpPr>
          <p:cNvPr id="35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ljust(), rjust(), center()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0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"cat"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ljust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[cat  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rjust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 cat]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ljust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'.'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[cat....]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rjust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'*'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[****cat]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center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'-'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[--cat--]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Выравнивание &lt; &gt; ^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"cat"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:&lt;7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[cat  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:&gt;7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 cat]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:^7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cat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[cat  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  42]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Символ-заполнитель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573655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:.&lt;7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[cat....]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:*&gt;7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[****cat]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:-^7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[--cat--]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Выравнивание и число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8288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3.14159265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[3.14]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:10.2f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   3.14]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:&lt;10.2f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[3.14    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:^10.2f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   3.14   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(f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:*&gt;10.2f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[******3.14]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Устройство спецификатора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608400" y="1800000"/>
            <a:ext cx="109692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3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pi</a:t>
            </a:r>
            <a:r>
              <a:rPr sz="3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:*&gt;10.2f</a:t>
            </a:r>
            <a:r>
              <a:rPr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endParaRPr sz="3600"/>
          </a:p>
        </p:txBody>
      </p:sp>
      <p:sp>
        <p:nvSpPr>
          <p:cNvPr id="12" name="Rounded Rectangle 12"/>
          <p:cNvSpPr/>
          <p:nvPr/>
        </p:nvSpPr>
        <p:spPr>
          <a:xfrm>
            <a:off x="840000" y="3500000"/>
            <a:ext cx="1900000" cy="14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*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заполнитель</a:t>
            </a:r>
            <a:endParaRPr sz="1600"/>
          </a:p>
        </p:txBody>
      </p:sp>
      <p:sp>
        <p:nvSpPr>
          <p:cNvPr id="13" name="Rounded Rectangle 13"/>
          <p:cNvSpPr/>
          <p:nvPr/>
        </p:nvSpPr>
        <p:spPr>
          <a:xfrm>
            <a:off x="2990000" y="3500000"/>
            <a:ext cx="1900000" cy="14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&gt;</a:t>
            </a:r>
            <a:endParaRPr sz="3200"/>
          </a:p>
          <a:p>
            <a:pPr algn="ctr"/>
            <a:r>
              <a:rPr sz="1500">
                <a:solidFill>
                  <a:srgbClr val="737373"/>
                </a:solidFill>
              </a:rPr>
              <a:t>выравнивание</a:t>
            </a:r>
            <a:endParaRPr sz="1500"/>
          </a:p>
        </p:txBody>
      </p:sp>
      <p:sp>
        <p:nvSpPr>
          <p:cNvPr id="14" name="Rounded Rectangle 14"/>
          <p:cNvSpPr/>
          <p:nvPr/>
        </p:nvSpPr>
        <p:spPr>
          <a:xfrm>
            <a:off x="5140000" y="3500000"/>
            <a:ext cx="1900000" cy="14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10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ширина</a:t>
            </a:r>
            <a:endParaRPr sz="1600"/>
          </a:p>
        </p:txBody>
      </p:sp>
      <p:sp>
        <p:nvSpPr>
          <p:cNvPr id="15" name="Rounded Rectangle 15"/>
          <p:cNvSpPr/>
          <p:nvPr/>
        </p:nvSpPr>
        <p:spPr>
          <a:xfrm>
            <a:off x="7290000" y="3500000"/>
            <a:ext cx="1900000" cy="14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.2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точность</a:t>
            </a:r>
            <a:endParaRPr sz="1600"/>
          </a:p>
        </p:txBody>
      </p:sp>
      <p:sp>
        <p:nvSpPr>
          <p:cNvPr id="16" name="Rounded Rectangle 16"/>
          <p:cNvSpPr/>
          <p:nvPr/>
        </p:nvSpPr>
        <p:spPr>
          <a:xfrm>
            <a:off x="9440000" y="3500000"/>
            <a:ext cx="1900000" cy="14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f</a:t>
            </a:r>
            <a:endParaRPr sz="3200"/>
          </a:p>
          <a:p>
            <a:pPr algn="ctr"/>
            <a:r>
              <a:rPr sz="1600">
                <a:solidFill>
                  <a:srgbClr val="737373"/>
                </a:solidFill>
              </a:rPr>
              <a:t>тип</a:t>
            </a:r>
            <a:endParaRPr sz="1600"/>
          </a:p>
        </p:txBody>
      </p:sp>
      <p:sp>
        <p:nvSpPr>
          <p:cNvPr id="17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5800"/>
              <a:t>Изменение регистра</a:t>
            </a:r>
            <a:endParaRPr sz="5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lower() и upper()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"Hello, World 123"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lower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world 123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upper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WORLD 123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Hello, World 123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capitalize()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world"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capitalize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 world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wORLD"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capitalize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 world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"python and NASA"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capitalize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Python and nasa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775" y="1414780"/>
            <a:ext cx="744474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"the quick brown fox"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The Quick Brown Fox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"hello-world"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title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Hello-World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"they're here"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title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They'Re Here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"3rd place"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title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3Rd Place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4200"/>
              <a:t>Проверка и модуль string</a:t>
            </a:r>
            <a:endParaRPr sz="42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проверки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islower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все буквы строчные</a:t>
            </a:r>
            <a:endParaRPr sz="16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isupper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все буквы заглавные</a:t>
            </a:r>
            <a:endParaRPr sz="16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все — буквы</a:t>
            </a:r>
            <a:endParaRPr sz="1600"/>
          </a:p>
        </p:txBody>
      </p:sp>
      <p:sp>
        <p:nvSpPr>
          <p:cNvPr id="14" name="Rounded Rectangle 14"/>
          <p:cNvSpPr/>
          <p:nvPr/>
        </p:nvSpPr>
        <p:spPr>
          <a:xfrm>
            <a:off x="8229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isdigit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все — цифры</a:t>
            </a:r>
            <a:endParaRPr sz="1600"/>
          </a:p>
        </p:txBody>
      </p:sp>
      <p:sp>
        <p:nvSpPr>
          <p:cNvPr id="15" name="Rounded Rectangle 15"/>
          <p:cNvSpPr/>
          <p:nvPr/>
        </p:nvSpPr>
        <p:spPr>
          <a:xfrm>
            <a:off x="44805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isalnum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буквы или цифры</a:t>
            </a:r>
            <a:endParaRPr sz="1600"/>
          </a:p>
        </p:txBody>
      </p:sp>
      <p:sp>
        <p:nvSpPr>
          <p:cNvPr id="16" name="Rounded Rectangle 16"/>
          <p:cNvSpPr/>
          <p:nvPr/>
        </p:nvSpPr>
        <p:spPr>
          <a:xfrm>
            <a:off x="81381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isspace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только пробельные</a:t>
            </a:r>
            <a:endParaRPr sz="1600"/>
          </a:p>
        </p:txBody>
      </p:sp>
      <p:sp>
        <p:nvSpPr>
          <p:cNvPr id="17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islower() и isupper()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islower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123"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islower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islower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"123"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islower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isupper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world"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isupper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isalpha(), isdigit()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8198485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 world"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"hello1"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"12345"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isdigit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"-5"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isdigit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</a:rPr>
              <a:t>     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"3.14"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isdigit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"abc123"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isalnum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"abc_123"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isalnum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isalpha() и Unicode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2087245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"é"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"\u03c0"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греческая буква "пи"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isspace()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203" y="244475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  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isspace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\t\n"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isspace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a 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isspace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Пустая строка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2595245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isdigit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isspace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Константы string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7758430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ascii_lowercase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abcdefghijklmnopqrstuvwxyz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digits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0123456789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punctuation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!"#$%&amp;'()*+,-./:;&lt;=&gt;?@[\]^_`{|}~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whitespace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 \t\n\r\x0b\x0c'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Практические примеры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2254885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"é"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isalpha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"é"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string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ascii_letters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"!"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string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punctuation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lang="ru-RU"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string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punctuation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lang="ru-RU"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Очистка строк</a:t>
            </a:r>
            <a:endParaRPr sz="60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очистки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29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символы с краев</a:t>
            </a:r>
            <a:endParaRPr sz="1600"/>
          </a:p>
        </p:txBody>
      </p:sp>
      <p:sp>
        <p:nvSpPr>
          <p:cNvPr id="12" name="Rounded Rectangle 12"/>
          <p:cNvSpPr/>
          <p:nvPr/>
        </p:nvSpPr>
        <p:spPr>
          <a:xfrm>
            <a:off x="44805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подстрока везде</a:t>
            </a:r>
            <a:endParaRPr sz="1600"/>
          </a:p>
        </p:txBody>
      </p:sp>
      <p:sp>
        <p:nvSpPr>
          <p:cNvPr id="13" name="Rounded Rectangle 13"/>
          <p:cNvSpPr/>
          <p:nvPr/>
        </p:nvSpPr>
        <p:spPr>
          <a:xfrm>
            <a:off x="8138160" y="2300000"/>
            <a:ext cx="3200400" cy="15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removeprefix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ctr"/>
            <a:r>
              <a:rPr sz="1600">
                <a:solidFill>
                  <a:srgbClr val="737373"/>
                </a:solidFill>
              </a:rPr>
              <a:t>точный префикс / суффикс</a:t>
            </a:r>
            <a:endParaRPr sz="1600"/>
          </a:p>
        </p:txBody>
      </p:sp>
      <p:sp>
        <p:nvSpPr>
          <p:cNvPr id="1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очищать строки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4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answer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 yes \n"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answer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"yes"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answer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"yes"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/>
              <a:t>strip(), lstrip(), rstrip()</a:t>
            </a:r>
            <a:endParaRPr sz="3800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000">
                <a:latin typeface="Consolas" panose="020B0609020204030204"/>
                <a:cs typeface="Consolas" panose="020B0609020204030204"/>
              </a:rPr>
              <a:t> </a:t>
            </a:r>
            <a:r>
              <a:rPr sz="3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 \t hello  world \n"</a:t>
            </a:r>
            <a:endParaRPr sz="3000"/>
          </a:p>
          <a:p>
            <a:pPr algn="l"/>
            <a:endParaRPr sz="3000"/>
          </a:p>
          <a:p>
            <a:pPr algn="l"/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latin typeface="Consolas" panose="020B0609020204030204"/>
                <a:cs typeface="Consolas" panose="020B0609020204030204"/>
              </a:rPr>
              <a:t>   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'hello  world'</a:t>
            </a:r>
            <a:endParaRPr sz="3000"/>
          </a:p>
          <a:p>
            <a:pPr algn="l"/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lstrip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latin typeface="Consolas" panose="020B0609020204030204"/>
                <a:cs typeface="Consolas" panose="020B0609020204030204"/>
              </a:rPr>
              <a:t>  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'hello  world \n'</a:t>
            </a:r>
            <a:endParaRPr sz="3000"/>
          </a:p>
          <a:p>
            <a:pPr algn="l"/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repr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rstrip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000">
                <a:latin typeface="Consolas" panose="020B0609020204030204"/>
                <a:cs typeface="Consolas" panose="020B0609020204030204"/>
              </a:rPr>
              <a:t>  </a:t>
            </a:r>
            <a:r>
              <a:rPr sz="3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'  \t hello  world'</a:t>
            </a:r>
            <a:endParaRPr sz="30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strip(): набор символов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"***hello***"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"*"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"xyxhelloyx"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hello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"[1, 2, 3]"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"[]"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1, 2,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"line\n"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"\n"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line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"happy.py"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rstrip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".py"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replace()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7848600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"one fish, two fish, red fish"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"fish"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"cat"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one cat, two cat, red cat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"fish"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"cat"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one cat, two fish, red fish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phone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"+7 (999) 123-45-67"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phone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 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+7(999)123-45-67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phone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 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replace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"-"</a:t>
            </a:r>
            <a:r>
              <a:rPr sz="24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+7(999)1234567</a:t>
            </a:r>
            <a:endParaRPr sz="24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</a:rPr>
              <a:t>removeprefix()</a:t>
            </a:r>
            <a:r>
              <a:rPr lang="en-US" sz="4445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sz="4445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</a:rPr>
              <a:t>и </a:t>
            </a:r>
            <a:r>
              <a:rPr sz="4445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removesuffix</a:t>
            </a:r>
            <a:r>
              <a:rPr lang="ru-RU" sz="4445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()</a:t>
            </a:r>
            <a:endParaRPr lang="ru-RU" sz="4445">
              <a:solidFill>
                <a:schemeClr val="accent1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8203" y="2122170"/>
            <a:ext cx="1088136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"report.txt"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url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"https://example.com"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removesuffix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".txt"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report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removesuffix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".csv"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report.txt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url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removeprefix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"https://"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example.com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split() и join()</a:t>
            </a:r>
            <a:endParaRPr sz="60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split() и join()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1000000" y="2300000"/>
            <a:ext cx="34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"a,b,c"</a:t>
            </a:r>
            <a:endParaRPr sz="3200"/>
          </a:p>
        </p:txBody>
      </p:sp>
      <p:sp>
        <p:nvSpPr>
          <p:cNvPr id="12" name="Rounded Rectangle 12"/>
          <p:cNvSpPr/>
          <p:nvPr/>
        </p:nvSpPr>
        <p:spPr>
          <a:xfrm>
            <a:off x="7600000" y="2300000"/>
            <a:ext cx="38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'a'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'b'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'c'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</p:txBody>
      </p:sp>
      <p:sp>
        <p:nvSpPr>
          <p:cNvPr id="13" name="TextBox 13"/>
          <p:cNvSpPr txBox="1"/>
          <p:nvPr/>
        </p:nvSpPr>
        <p:spPr>
          <a:xfrm>
            <a:off x="4400000" y="175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cxnSp>
        <p:nvCxnSpPr>
          <p:cNvPr id="14" name="Connector 14"/>
          <p:cNvCxnSpPr/>
          <p:nvPr/>
        </p:nvCxnSpPr>
        <p:spPr>
          <a:xfrm>
            <a:off x="4500000" y="2650000"/>
            <a:ext cx="3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 flipH="1">
            <a:off x="4500000" y="3150000"/>
            <a:ext cx="3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6"/>
          <p:cNvSpPr txBox="1"/>
          <p:nvPr/>
        </p:nvSpPr>
        <p:spPr>
          <a:xfrm>
            <a:off x="4400000" y="355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7" name="TextBox 17"/>
          <p:cNvSpPr txBox="1"/>
          <p:nvPr/>
        </p:nvSpPr>
        <p:spPr>
          <a:xfrm>
            <a:off x="1000000" y="4500000"/>
            <a:ext cx="104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rgbClr val="737373"/>
                </a:solidFill>
              </a:rPr>
              <a:t>строка ↔ список строк</a:t>
            </a:r>
            <a:endParaRPr sz="2000"/>
          </a:p>
        </p:txBody>
      </p:sp>
      <p:sp>
        <p:nvSpPr>
          <p:cNvPr id="18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  <p:bldP spid="13" grpId="1"/>
      <p:bldP spid="12" grpId="1" animBg="1"/>
      <p:bldP spid="16" grpId="0"/>
      <p:bldP spid="17" grpId="0"/>
      <p:bldP spid="16" grpId="1"/>
      <p:bldP spid="17" grpId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split()</a:t>
            </a:r>
            <a:r>
              <a:rPr lang="ru-RU" sz="4445"/>
              <a:t>:</a:t>
            </a:r>
            <a:r>
              <a:rPr sz="4445"/>
              <a:t> без аргументов</a:t>
            </a:r>
            <a:endParaRPr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2177415"/>
            <a:ext cx="1088136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sentence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 the   quick\tbrown\nfox  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sentence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['the', 'quick', 'brown', 'fox']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445"/>
              <a:t>split()</a:t>
            </a:r>
            <a:r>
              <a:rPr lang="ru-RU" sz="4445"/>
              <a:t>: </a:t>
            </a:r>
            <a:r>
              <a:rPr lang="en-US" sz="4445"/>
              <a:t>sep</a:t>
            </a:r>
            <a:endParaRPr lang="en-US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"a,b,c"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'b', 'c']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"a,,b"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'', 'b'] - пустой элемент сохранен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"a--b--c"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"--"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'b', 'c']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"2024-05-17"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"-"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['2024', '05', '17']</a:t>
            </a:r>
            <a:endParaRPr sz="24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45"/>
              <a:t>split(): </a:t>
            </a:r>
            <a:r>
              <a:rPr sz="4445"/>
              <a:t>maxsplit</a:t>
            </a:r>
            <a:endParaRPr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line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"key=value=extra"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['key', 'value=extra']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"="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['key', 'value', 'extra']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rsplit()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"a.b.c.d"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split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'b.c.d']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"a.b.c.d"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rsplit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['a.b.c', 'd']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"to"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"or"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"not"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"to"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to be or not to be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 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to, be, or, not, to, be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tobeornottobe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"-"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(пустая строка)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join(): только строки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 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sequence item 0: expected str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 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1, 2, 3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join() вместо +=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1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parts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parts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","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join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parts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1,2,3,4,5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sz="6000"/>
              <a:t>Поиск в строках</a:t>
            </a:r>
            <a:endParaRPr sz="60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startswith(), endswith()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"report_2024.txt"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startswith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startswith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"Report"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endswith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".txt"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file_name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endswith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".csv"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Кортеж префиксов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url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"https://example.com"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image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"photo.PNG"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url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startswith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"http://"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"https://"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image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lower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endswith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".png"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".jpg"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".gif"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find() и rfind()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 первое вхождение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rfind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3 - последнее вхождение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rfind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5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"xyz"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-1 - не найдено</a:t>
            </a:r>
            <a:endParaRPr sz="28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find() и rfind()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20269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b</a:t>
            </a:r>
            <a:endParaRPr sz="3200"/>
          </a:p>
        </p:txBody>
      </p:sp>
      <p:sp>
        <p:nvSpPr>
          <p:cNvPr id="12" name="Rounded Rectangle 12"/>
          <p:cNvSpPr/>
          <p:nvPr/>
        </p:nvSpPr>
        <p:spPr>
          <a:xfrm>
            <a:off x="33985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13" name="Rounded Rectangle 13"/>
          <p:cNvSpPr/>
          <p:nvPr/>
        </p:nvSpPr>
        <p:spPr>
          <a:xfrm>
            <a:off x="47701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n</a:t>
            </a:r>
            <a:endParaRPr sz="3200"/>
          </a:p>
        </p:txBody>
      </p:sp>
      <p:sp>
        <p:nvSpPr>
          <p:cNvPr id="14" name="Rounded Rectangle 14"/>
          <p:cNvSpPr/>
          <p:nvPr/>
        </p:nvSpPr>
        <p:spPr>
          <a:xfrm>
            <a:off x="61417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15" name="Rounded Rectangle 15"/>
          <p:cNvSpPr/>
          <p:nvPr/>
        </p:nvSpPr>
        <p:spPr>
          <a:xfrm>
            <a:off x="75133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n</a:t>
            </a:r>
            <a:endParaRPr sz="3200"/>
          </a:p>
        </p:txBody>
      </p:sp>
      <p:sp>
        <p:nvSpPr>
          <p:cNvPr id="16" name="Rounded Rectangle 16"/>
          <p:cNvSpPr/>
          <p:nvPr/>
        </p:nvSpPr>
        <p:spPr>
          <a:xfrm>
            <a:off x="8884920" y="2700000"/>
            <a:ext cx="128016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a</a:t>
            </a:r>
            <a:endParaRPr sz="3200"/>
          </a:p>
        </p:txBody>
      </p:sp>
      <p:sp>
        <p:nvSpPr>
          <p:cNvPr id="17" name="TextBox 17"/>
          <p:cNvSpPr txBox="1"/>
          <p:nvPr/>
        </p:nvSpPr>
        <p:spPr>
          <a:xfrm>
            <a:off x="20269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000"/>
          </a:p>
        </p:txBody>
      </p:sp>
      <p:sp>
        <p:nvSpPr>
          <p:cNvPr id="18" name="TextBox 18"/>
          <p:cNvSpPr txBox="1"/>
          <p:nvPr/>
        </p:nvSpPr>
        <p:spPr>
          <a:xfrm>
            <a:off x="33985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2000"/>
          </a:p>
        </p:txBody>
      </p:sp>
      <p:sp>
        <p:nvSpPr>
          <p:cNvPr id="19" name="TextBox 19"/>
          <p:cNvSpPr txBox="1"/>
          <p:nvPr/>
        </p:nvSpPr>
        <p:spPr>
          <a:xfrm>
            <a:off x="47701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000"/>
          </a:p>
        </p:txBody>
      </p:sp>
      <p:sp>
        <p:nvSpPr>
          <p:cNvPr id="20" name="TextBox 20"/>
          <p:cNvSpPr txBox="1"/>
          <p:nvPr/>
        </p:nvSpPr>
        <p:spPr>
          <a:xfrm>
            <a:off x="61417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000"/>
          </a:p>
        </p:txBody>
      </p:sp>
      <p:sp>
        <p:nvSpPr>
          <p:cNvPr id="21" name="TextBox 21"/>
          <p:cNvSpPr txBox="1"/>
          <p:nvPr/>
        </p:nvSpPr>
        <p:spPr>
          <a:xfrm>
            <a:off x="75133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endParaRPr sz="2000"/>
          </a:p>
        </p:txBody>
      </p:sp>
      <p:sp>
        <p:nvSpPr>
          <p:cNvPr id="22" name="TextBox 22"/>
          <p:cNvSpPr txBox="1"/>
          <p:nvPr/>
        </p:nvSpPr>
        <p:spPr>
          <a:xfrm>
            <a:off x="8884920" y="2150000"/>
            <a:ext cx="128016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2000"/>
          </a:p>
        </p:txBody>
      </p:sp>
      <p:sp>
        <p:nvSpPr>
          <p:cNvPr id="23" name="Highlight 23"/>
          <p:cNvSpPr/>
          <p:nvPr/>
        </p:nvSpPr>
        <p:spPr>
          <a:xfrm>
            <a:off x="3328520" y="2630000"/>
            <a:ext cx="2791760" cy="10544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4"/>
          <p:cNvCxnSpPr/>
          <p:nvPr/>
        </p:nvCxnSpPr>
        <p:spPr>
          <a:xfrm flipV="1">
            <a:off x="4724400" y="3774400"/>
            <a:ext cx="0" cy="8256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Box 25"/>
          <p:cNvSpPr txBox="1"/>
          <p:nvPr/>
        </p:nvSpPr>
        <p:spPr>
          <a:xfrm>
            <a:off x="3424400" y="4650000"/>
            <a:ext cx="2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26" name="TextBox 26"/>
          <p:cNvSpPr txBox="1"/>
          <p:nvPr/>
        </p:nvSpPr>
        <p:spPr>
          <a:xfrm>
            <a:off x="3424400" y="5150000"/>
            <a:ext cx="2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первое вхождение</a:t>
            </a:r>
            <a:endParaRPr sz="1600"/>
          </a:p>
        </p:txBody>
      </p:sp>
      <p:sp>
        <p:nvSpPr>
          <p:cNvPr id="27" name="Highlight 27"/>
          <p:cNvSpPr/>
          <p:nvPr/>
        </p:nvSpPr>
        <p:spPr>
          <a:xfrm>
            <a:off x="6071720" y="2630000"/>
            <a:ext cx="2791760" cy="10544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8"/>
          <p:cNvCxnSpPr/>
          <p:nvPr/>
        </p:nvCxnSpPr>
        <p:spPr>
          <a:xfrm flipV="1">
            <a:off x="7467600" y="3774400"/>
            <a:ext cx="0" cy="8256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TextBox 29"/>
          <p:cNvSpPr txBox="1"/>
          <p:nvPr/>
        </p:nvSpPr>
        <p:spPr>
          <a:xfrm>
            <a:off x="6167600" y="4650000"/>
            <a:ext cx="2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rfind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30" name="TextBox 30"/>
          <p:cNvSpPr txBox="1"/>
          <p:nvPr/>
        </p:nvSpPr>
        <p:spPr>
          <a:xfrm>
            <a:off x="6167600" y="5150000"/>
            <a:ext cx="2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737373"/>
                </a:solidFill>
              </a:rPr>
              <a:t>последнее вхождение</a:t>
            </a:r>
            <a:endParaRPr sz="1600"/>
          </a:p>
        </p:txBody>
      </p:sp>
      <p:sp>
        <p:nvSpPr>
          <p:cNvPr id="31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26" grpId="0"/>
      <p:bldP spid="23" grpId="1" animBg="1"/>
      <p:bldP spid="25" grpId="1"/>
      <p:bldP spid="26" grpId="1"/>
      <p:bldP spid="27" grpId="0" animBg="1"/>
      <p:bldP spid="29" grpId="0"/>
      <p:bldP spid="30" grpId="0"/>
      <p:bldP spid="27" grpId="1" animBg="1"/>
      <p:bldP spid="29" grpId="1"/>
      <p:bldP spid="30" grpId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find(): start и 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3 - поиск начинается с индекса 2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find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-1 - в срезе text[2:4] == "na" подстроки нет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index() и rindex()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0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index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1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rindex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index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"xyz"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ValueError: substring not found</a:t>
            </a:r>
            <a:endParaRPr sz="3200"/>
          </a:p>
        </p:txBody>
      </p:sp>
      <p:sp>
        <p:nvSpPr>
          <p:cNvPr id="12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065" y="2772410"/>
            <a:ext cx="10389870" cy="1313180"/>
          </a:xfrm>
        </p:spPr>
        <p:txBody>
          <a:bodyPr>
            <a:normAutofit fontScale="90000"/>
          </a:bodyPr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16455</Words>
  <Application>WPS Presentation</Application>
  <PresentationFormat>Широкоэкранный</PresentationFormat>
  <Paragraphs>1367</Paragraphs>
  <Slides>125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39" baseType="lpstr">
      <vt:lpstr>Arial</vt:lpstr>
      <vt:lpstr>SimSun</vt:lpstr>
      <vt:lpstr>Wingdings</vt:lpstr>
      <vt:lpstr>Wingdings</vt:lpstr>
      <vt:lpstr>Arial Black</vt:lpstr>
      <vt:lpstr>Tahoma</vt:lpstr>
      <vt:lpstr>Arial</vt:lpstr>
      <vt:lpstr>Segoe UI</vt:lpstr>
      <vt:lpstr>Consolas</vt:lpstr>
      <vt:lpstr>Microsoft YaHei</vt:lpstr>
      <vt:lpstr>Arial Unicode MS</vt:lpstr>
      <vt:lpstr>Calibri</vt:lpstr>
      <vt:lpstr>Consolas</vt:lpstr>
      <vt:lpstr>WPS</vt:lpstr>
      <vt:lpstr>Последовательности: строки</vt:lpstr>
      <vt:lpstr>Строки: обзор</vt:lpstr>
      <vt:lpstr>Характеристики строки</vt:lpstr>
      <vt:lpstr>Гомогенность</vt:lpstr>
      <vt:lpstr>Ограниченность</vt:lpstr>
      <vt:lpstr>Упорядоченность</vt:lpstr>
      <vt:lpstr>Итерируемость</vt:lpstr>
      <vt:lpstr>Неизменяемость</vt:lpstr>
      <vt:lpstr>Где применяются строки</vt:lpstr>
      <vt:lpstr>str() и repr()</vt:lpstr>
      <vt:lpstr>str()</vt:lpstr>
      <vt:lpstr>str() для составных объектов</vt:lpstr>
      <vt:lpstr>repr()</vt:lpstr>
      <vt:lpstr>repr() и служебные символы</vt:lpstr>
      <vt:lpstr>PowerPoint 演示文稿</vt:lpstr>
      <vt:lpstr>Что выбрать?</vt:lpstr>
      <vt:lpstr>Строковые литералы</vt:lpstr>
      <vt:lpstr>Одинарные и двойные кавычки</vt:lpstr>
      <vt:lpstr>Кавычки внутри текста</vt:lpstr>
      <vt:lpstr>Пустая строка</vt:lpstr>
      <vt:lpstr>Литерал — одна строка</vt:lpstr>
      <vt:lpstr>Тройные кавычки</vt:lpstr>
      <vt:lpstr>Сохранение табуляции</vt:lpstr>
      <vt:lpstr>Экранирование перевода строки</vt:lpstr>
      <vt:lpstr>Неявная конкатенация</vt:lpstr>
      <vt:lpstr>Разбиение</vt:lpstr>
      <vt:lpstr>Пропущенная запятая</vt:lpstr>
      <vt:lpstr>Escape-символы</vt:lpstr>
      <vt:lpstr>Escape-последовательности</vt:lpstr>
      <vt:lpstr>Один символ в строке</vt:lpstr>
      <vt:lpstr>Основные escape-символы</vt:lpstr>
      <vt:lpstr>Следствие</vt:lpstr>
      <vt:lpstr>\\ — обратный слеш</vt:lpstr>
      <vt:lpstr>r-, f- и t-строки</vt:lpstr>
      <vt:lpstr>r-строка</vt:lpstr>
      <vt:lpstr>Ограничения r-строк</vt:lpstr>
      <vt:lpstr>Склейка через +</vt:lpstr>
      <vt:lpstr>f-строка</vt:lpstr>
      <vt:lpstr>Выражения внутри {}</vt:lpstr>
      <vt:lpstr>Фигурные скобки как символы</vt:lpstr>
      <vt:lpstr>Отладочный вывод {value=}</vt:lpstr>
      <vt:lpstr>Флаг !r</vt:lpstr>
      <vt:lpstr>t-строка (Python 3.14)</vt:lpstr>
      <vt:lpstr>Строки и последовательности</vt:lpstr>
      <vt:lpstr>len()</vt:lpstr>
      <vt:lpstr>in и not in</vt:lpstr>
      <vt:lpstr>Конкатенация +</vt:lpstr>
      <vt:lpstr>Оператор +=</vt:lpstr>
      <vt:lpstr>Повторение *</vt:lpstr>
      <vt:lpstr>Индексы</vt:lpstr>
      <vt:lpstr>Присваивание по индексу</vt:lpstr>
      <vt:lpstr>Обход в цикле</vt:lpstr>
      <vt:lpstr>Сравнение и логика</vt:lpstr>
      <vt:lpstr>Равенство == и !=</vt:lpstr>
      <vt:lpstr>Сравнение строк</vt:lpstr>
      <vt:lpstr>Лексикографический порядок</vt:lpstr>
      <vt:lpstr>Сравнение по кодам</vt:lpstr>
      <vt:lpstr>Истинность строк</vt:lpstr>
      <vt:lpstr>Логический контекст</vt:lpstr>
      <vt:lpstr>Значение по умолчанию</vt:lpstr>
      <vt:lpstr>Работа с кодировкой</vt:lpstr>
      <vt:lpstr>ord() и chr()</vt:lpstr>
      <vt:lpstr>ord()</vt:lpstr>
      <vt:lpstr>chr()</vt:lpstr>
      <vt:lpstr>chr(): ValueError</vt:lpstr>
      <vt:lpstr>ord() и chr() обратны</vt:lpstr>
      <vt:lpstr>Способы форматирования</vt:lpstr>
      <vt:lpstr>Три способа форматирования</vt:lpstr>
      <vt:lpstr>f-строки</vt:lpstr>
      <vt:lpstr>format()</vt:lpstr>
      <vt:lpstr>format(): индексы</vt:lpstr>
      <vt:lpstr>format(): шаблон отдельно</vt:lpstr>
      <vt:lpstr>Оператор %</vt:lpstr>
      <vt:lpstr>Ловушка с кортежем</vt:lpstr>
      <vt:lpstr>Форматирование чисел</vt:lpstr>
      <vt:lpstr>Точность: тип f</vt:lpstr>
      <vt:lpstr>Типы e и g</vt:lpstr>
      <vt:lpstr>Системы счисления</vt:lpstr>
      <vt:lpstr>Проценты</vt:lpstr>
      <vt:lpstr>Разделители разрядов</vt:lpstr>
      <vt:lpstr>Ширина и нули слева</vt:lpstr>
      <vt:lpstr>Выравнивание строк</vt:lpstr>
      <vt:lpstr>ljust(), rjust(), center()</vt:lpstr>
      <vt:lpstr>ljust(), rjust(), center()</vt:lpstr>
      <vt:lpstr>Выравнивание &lt; &gt; ^</vt:lpstr>
      <vt:lpstr>Символ-заполнитель</vt:lpstr>
      <vt:lpstr>Выравнивание и число</vt:lpstr>
      <vt:lpstr>Устройство спецификатора</vt:lpstr>
      <vt:lpstr>Изменение регистра</vt:lpstr>
      <vt:lpstr>lower() и upper()</vt:lpstr>
      <vt:lpstr>capitalize()</vt:lpstr>
      <vt:lpstr>title()</vt:lpstr>
      <vt:lpstr>Проверка и модуль string</vt:lpstr>
      <vt:lpstr>Методы проверки</vt:lpstr>
      <vt:lpstr>islower() и isupper()</vt:lpstr>
      <vt:lpstr>isalpha(), isdigit()</vt:lpstr>
      <vt:lpstr>isalpha() и Unicode</vt:lpstr>
      <vt:lpstr>isspace()</vt:lpstr>
      <vt:lpstr>Пустая строка</vt:lpstr>
      <vt:lpstr>Константы string</vt:lpstr>
      <vt:lpstr>Практические примеры</vt:lpstr>
      <vt:lpstr>Очистка строк</vt:lpstr>
      <vt:lpstr>Методы очистки</vt:lpstr>
      <vt:lpstr>Зачем очищать строки</vt:lpstr>
      <vt:lpstr>strip(), lstrip(), rstrip()</vt:lpstr>
      <vt:lpstr>strip(): набор символов</vt:lpstr>
      <vt:lpstr>replace()</vt:lpstr>
      <vt:lpstr>removeprefix() и removesuffix()</vt:lpstr>
      <vt:lpstr>split() и join()</vt:lpstr>
      <vt:lpstr>split() и join()</vt:lpstr>
      <vt:lpstr>split(): без аргументов</vt:lpstr>
      <vt:lpstr>split(): sep</vt:lpstr>
      <vt:lpstr>split(): maxsplit</vt:lpstr>
      <vt:lpstr>rsplit()</vt:lpstr>
      <vt:lpstr>join()</vt:lpstr>
      <vt:lpstr>join(): только строки</vt:lpstr>
      <vt:lpstr>join() вместо +=</vt:lpstr>
      <vt:lpstr>Поиск в строках</vt:lpstr>
      <vt:lpstr>startswith(), endswith()</vt:lpstr>
      <vt:lpstr>Кортеж префиксов</vt:lpstr>
      <vt:lpstr>find() и rfind()</vt:lpstr>
      <vt:lpstr>find() и rfind()</vt:lpstr>
      <vt:lpstr>find(): start и end</vt:lpstr>
      <vt:lpstr>index() и rindex()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</cp:lastModifiedBy>
  <cp:revision>1044</cp:revision>
  <dcterms:created xsi:type="dcterms:W3CDTF">2026-09-01T18:40:00Z</dcterms:created>
  <dcterms:modified xsi:type="dcterms:W3CDTF">2026-10-02T20:14:27Z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