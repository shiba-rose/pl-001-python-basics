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11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  <p:sldId id="384" r:id="rId16"/>
    <p:sldId id="273" r:id="rId17"/>
    <p:sldId id="274" r:id="rId18"/>
    <p:sldId id="385" r:id="rId19"/>
    <p:sldId id="386" r:id="rId20"/>
    <p:sldId id="279" r:id="rId21"/>
    <p:sldId id="276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8" r:id="rId30"/>
    <p:sldId id="290" r:id="rId31"/>
    <p:sldId id="292" r:id="rId32"/>
    <p:sldId id="293" r:id="rId33"/>
    <p:sldId id="295" r:id="rId34"/>
    <p:sldId id="296" r:id="rId35"/>
    <p:sldId id="298" r:id="rId36"/>
    <p:sldId id="299" r:id="rId37"/>
    <p:sldId id="297" r:id="rId38"/>
    <p:sldId id="300" r:id="rId39"/>
    <p:sldId id="301" r:id="rId40"/>
    <p:sldId id="302" r:id="rId41"/>
    <p:sldId id="303" r:id="rId42"/>
    <p:sldId id="304" r:id="rId43"/>
    <p:sldId id="305" r:id="rId44"/>
    <p:sldId id="308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30" r:id="rId65"/>
    <p:sldId id="331" r:id="rId66"/>
    <p:sldId id="332" r:id="rId67"/>
    <p:sldId id="334" r:id="rId68"/>
    <p:sldId id="335" r:id="rId69"/>
    <p:sldId id="336" r:id="rId70"/>
    <p:sldId id="337" r:id="rId71"/>
    <p:sldId id="341" r:id="rId72"/>
    <p:sldId id="342" r:id="rId73"/>
    <p:sldId id="387" r:id="rId74"/>
    <p:sldId id="343" r:id="rId75"/>
    <p:sldId id="344" r:id="rId76"/>
    <p:sldId id="356" r:id="rId77"/>
    <p:sldId id="345" r:id="rId78"/>
    <p:sldId id="346" r:id="rId79"/>
    <p:sldId id="347" r:id="rId80"/>
    <p:sldId id="348" r:id="rId81"/>
    <p:sldId id="350" r:id="rId82"/>
    <p:sldId id="351" r:id="rId83"/>
    <p:sldId id="353" r:id="rId84"/>
    <p:sldId id="354" r:id="rId85"/>
    <p:sldId id="357" r:id="rId86"/>
    <p:sldId id="355" r:id="rId87"/>
    <p:sldId id="358" r:id="rId88"/>
    <p:sldId id="359" r:id="rId89"/>
    <p:sldId id="360" r:id="rId90"/>
    <p:sldId id="361" r:id="rId91"/>
    <p:sldId id="362" r:id="rId92"/>
    <p:sldId id="363" r:id="rId93"/>
    <p:sldId id="364" r:id="rId94"/>
    <p:sldId id="365" r:id="rId95"/>
    <p:sldId id="367" r:id="rId96"/>
    <p:sldId id="368" r:id="rId97"/>
    <p:sldId id="369" r:id="rId98"/>
    <p:sldId id="370" r:id="rId99"/>
    <p:sldId id="371" r:id="rId100"/>
    <p:sldId id="372" r:id="rId101"/>
    <p:sldId id="373" r:id="rId102"/>
    <p:sldId id="374" r:id="rId103"/>
    <p:sldId id="375" r:id="rId104"/>
    <p:sldId id="376" r:id="rId105"/>
    <p:sldId id="377" r:id="rId106"/>
    <p:sldId id="378" r:id="rId107"/>
    <p:sldId id="379" r:id="rId108"/>
    <p:sldId id="380" r:id="rId109"/>
    <p:sldId id="383" r:id="rId1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683"/>
    <a:srgbClr val="7030A0"/>
    <a:srgbClr val="C09D29"/>
    <a:srgbClr val="A05900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7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5" Type="http://schemas.openxmlformats.org/officeDocument/2006/relationships/commentAuthors" Target="commentAuthors.xml"/><Relationship Id="rId114" Type="http://schemas.openxmlformats.org/officeDocument/2006/relationships/tableStyles" Target="tableStyles.xml"/><Relationship Id="rId113" Type="http://schemas.openxmlformats.org/officeDocument/2006/relationships/viewProps" Target="viewProps.xml"/><Relationship Id="rId112" Type="http://schemas.openxmlformats.org/officeDocument/2006/relationships/presProps" Target="presProps.xml"/><Relationship Id="rId111" Type="http://schemas.openxmlformats.org/officeDocument/2006/relationships/notesMaster" Target="notesMasters/notesMaster1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ru-RU" smtClean="0"/>
            </a:fld>
            <a:endParaRPr lang="ru-RU"/>
          </a:p>
        </p:txBody>
      </p:sp>
      <p:sp>
        <p:nvSpPr>
          <p:cNvPr id="4" name="Замещающий 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полнитель примечаний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Щелкните, чтобы изменить стиль образца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заголовка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80" y="2772410"/>
            <a:ext cx="9799320" cy="131318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048375" y="4392295"/>
            <a:ext cx="4949825" cy="64071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ечный слайд">
    <p:bg>
      <p:bgPr>
        <a:blipFill rotWithShape="1">
          <a:blip r:embed="rId2"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smtClean="0"/>
              <a:t>Заголовок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Содержимое в двух колонка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Заполнитель содержимого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4" name="Заполнитель колонтитула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полнитель номера слайда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и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полнитель изображения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ru-RU"/>
          </a:p>
        </p:txBody>
      </p:sp>
      <p:sp>
        <p:nvSpPr>
          <p:cNvPr id="4" name="Текстовый заполнитель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ru-RU" smtClean="0"/>
              <a:t>Образец текста</a:t>
            </a:r>
            <a:endParaRPr lang="ru-RU"/>
          </a:p>
        </p:txBody>
      </p:sp>
      <p:sp>
        <p:nvSpPr>
          <p:cNvPr id="5" name="Заполнитель даты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ru-RU" smtClean="0"/>
            </a:fld>
            <a:endParaRPr lang="ru-RU" dirty="0"/>
          </a:p>
        </p:txBody>
      </p:sp>
      <p:sp>
        <p:nvSpPr>
          <p:cNvPr id="6" name="Заполнитель колонтитула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Заполнитель номера слайда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ru-RU" smtClean="0"/>
            </a:fld>
            <a:endParaRPr lang="ru-RU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ru-RU"/>
              <a:t>Образец заголовка</a:t>
            </a:r>
            <a:endParaRPr lang="ru-RU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ы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433586" y="278607"/>
            <a:ext cx="11379198" cy="1476164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4190" b="1" i="0" u="none" strike="noStrike" cap="none" baseline="0" dirty="0">
                <a:solidFill>
                  <a:srgbClr val="0072BC"/>
                </a:solidFill>
                <a:latin typeface="Arial Black" panose="020B0A0402010202020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458914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11296612" y="6217622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 lang="en-US" sz="138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4226721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7994375" y="1952625"/>
            <a:ext cx="3508169" cy="4093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ct val="0"/>
              </a:spcBef>
              <a:defRPr sz="1575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ct val="0"/>
              </a:spcBef>
              <a:defRPr/>
            </a:lvl2pPr>
            <a:lvl3pPr>
              <a:spcBef>
                <a:spcPct val="0"/>
              </a:spcBef>
              <a:defRPr/>
            </a:lvl3pPr>
            <a:lvl4pPr>
              <a:spcBef>
                <a:spcPct val="0"/>
              </a:spcBef>
              <a:defRPr/>
            </a:lvl4pPr>
            <a:lvl5pPr>
              <a:spcBef>
                <a:spcPct val="0"/>
              </a:spcBef>
              <a:defRPr/>
            </a:lvl5pPr>
            <a:lvl6pPr>
              <a:spcBef>
                <a:spcPct val="0"/>
              </a:spcBef>
              <a:defRPr/>
            </a:lvl6pPr>
            <a:lvl7pPr>
              <a:spcBef>
                <a:spcPct val="0"/>
              </a:spcBef>
              <a:defRPr/>
            </a:lvl7pPr>
            <a:lvl8pPr>
              <a:spcBef>
                <a:spcPct val="0"/>
              </a:spcBef>
              <a:defRPr/>
            </a:lvl8pPr>
            <a:lvl9pPr>
              <a:spcBef>
                <a:spcPct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-заполнитель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овый заполнитель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59549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ru-RU" smtClean="0"/>
            </a:fld>
            <a:endParaRPr lang="ru-RU"/>
          </a:p>
        </p:txBody>
      </p:sp>
      <p:sp>
        <p:nvSpPr>
          <p:cNvPr id="5" name="Заполнитель колонтитула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ru-RU" smtClean="0"/>
            </a:fld>
            <a:endParaRPr lang="ru-RU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4000" b="0" u="none" strike="noStrike" kern="1200" cap="none" spc="300" normalizeH="0" baseline="0">
          <a:solidFill>
            <a:srgbClr val="0070C0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455" y="2226310"/>
            <a:ext cx="10676255" cy="1859280"/>
          </a:xfrm>
        </p:spPr>
        <p:txBody>
          <a:bodyPr>
            <a:normAutofit fontScale="90000"/>
          </a:bodyPr>
          <a:lstStyle/>
          <a:p>
            <a:r>
              <a:rPr lang="ru-RU" sz="6665"/>
              <a:t>Словари</a:t>
            </a:r>
            <a:br>
              <a:rPr lang="ru-RU" sz="6665"/>
            </a:br>
            <a:r>
              <a:rPr lang="ru-RU" sz="6665"/>
              <a:t>и множества</a:t>
            </a:r>
            <a:endParaRPr sz="6665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9060" y="4744720"/>
            <a:ext cx="5819140" cy="640715"/>
          </a:xfrm>
        </p:spPr>
        <p:txBody>
          <a:bodyPr>
            <a:noAutofit/>
          </a:bodyPr>
          <a:lstStyle/>
          <a:p>
            <a:r>
              <a:rPr lang="ru-RU" sz="2200"/>
              <a:t>Докладчик: Евграфов Михаил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Словарь: обзор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Ключ и значение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1500000" y="150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ключ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000000" y="1500000"/>
            <a:ext cx="3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значение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1500000" y="22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endParaRPr sz="2400"/>
          </a:p>
        </p:txBody>
      </p:sp>
      <p:sp>
        <p:nvSpPr>
          <p:cNvPr id="14" name="Rounded Rectangle 14"/>
          <p:cNvSpPr/>
          <p:nvPr/>
        </p:nvSpPr>
        <p:spPr>
          <a:xfrm>
            <a:off x="7000000" y="22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endParaRPr sz="2400"/>
          </a:p>
        </p:txBody>
      </p:sp>
      <p:cxnSp>
        <p:nvCxnSpPr>
          <p:cNvPr id="15" name="Connector 15"/>
          <p:cNvCxnSpPr/>
          <p:nvPr/>
        </p:nvCxnSpPr>
        <p:spPr>
          <a:xfrm>
            <a:off x="4700000" y="2625000"/>
            <a:ext cx="23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Rounded Rectangle 16"/>
          <p:cNvSpPr/>
          <p:nvPr/>
        </p:nvSpPr>
        <p:spPr>
          <a:xfrm>
            <a:off x="1500000" y="33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endParaRPr sz="2400"/>
          </a:p>
        </p:txBody>
      </p:sp>
      <p:sp>
        <p:nvSpPr>
          <p:cNvPr id="17" name="Rounded Rectangle 17"/>
          <p:cNvSpPr/>
          <p:nvPr/>
        </p:nvSpPr>
        <p:spPr>
          <a:xfrm>
            <a:off x="7000000" y="33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endParaRPr sz="2400"/>
          </a:p>
        </p:txBody>
      </p:sp>
      <p:cxnSp>
        <p:nvCxnSpPr>
          <p:cNvPr id="18" name="Connector 18"/>
          <p:cNvCxnSpPr/>
          <p:nvPr/>
        </p:nvCxnSpPr>
        <p:spPr>
          <a:xfrm>
            <a:off x="4700000" y="3725000"/>
            <a:ext cx="23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Rounded Rectangle 19"/>
          <p:cNvSpPr/>
          <p:nvPr/>
        </p:nvSpPr>
        <p:spPr>
          <a:xfrm>
            <a:off x="1500000" y="44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endParaRPr sz="2400"/>
          </a:p>
        </p:txBody>
      </p:sp>
      <p:sp>
        <p:nvSpPr>
          <p:cNvPr id="20" name="Rounded Rectangle 20"/>
          <p:cNvSpPr/>
          <p:nvPr/>
        </p:nvSpPr>
        <p:spPr>
          <a:xfrm>
            <a:off x="7000000" y="4400000"/>
            <a:ext cx="32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endParaRPr sz="2400"/>
          </a:p>
        </p:txBody>
      </p:sp>
      <p:cxnSp>
        <p:nvCxnSpPr>
          <p:cNvPr id="21" name="Connector 21"/>
          <p:cNvCxnSpPr/>
          <p:nvPr/>
        </p:nvCxnSpPr>
        <p:spPr>
          <a:xfrm>
            <a:off x="4700000" y="4825000"/>
            <a:ext cx="23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TextBox 22"/>
          <p:cNvSpPr txBox="1"/>
          <p:nvPr/>
        </p:nvSpPr>
        <p:spPr>
          <a:xfrm>
            <a:off x="1500635" y="5524282"/>
            <a:ext cx="320000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уникальные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737350" y="5524500"/>
            <a:ext cx="372618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могут повторяться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Характеристики словаря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гетерогенный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ограниченный</a:t>
            </a:r>
            <a:endParaRPr sz="22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упорядоченный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изменяемый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итерируемый</a:t>
            </a:r>
            <a:endParaRPr sz="2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Гетерогенность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2122805"/>
            <a:ext cx="10859770" cy="23069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mixed_dict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ключ-строка, значение-строка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"scores"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значение-список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"answer"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      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ключ-число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"nested"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True}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ключ-кортеж, значение-словарь</a:t>
            </a:r>
            <a:endParaRPr sz="2400"/>
          </a:p>
          <a:p>
            <a:pPr algn="l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Ограниченность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6311900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>
              <a:solidFill>
                <a:schemeClr val="tx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lang="en-US"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>
              <a:solidFill>
                <a:schemeClr val="accent5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Упорядоченность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923353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"third"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ordered_dict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{'first': 1, 'second': 2, 'third': 3}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Равенство словарей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055433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second_dict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порядок пар не влияет на равенство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 - для списков порядок важен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Изменяемость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514475"/>
            <a:ext cx="791337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"math"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"physics"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85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"math"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95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{'math': 95, 'physics': 85}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scores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 - это все еще тот же объект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Итерируемость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203" y="165989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name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age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Где применяются словари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описание объекта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таблицы соответствий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подсчет и группировка</a:t>
            </a:r>
            <a:endParaRPr sz="2000"/>
          </a:p>
        </p:txBody>
      </p:sp>
      <p:sp>
        <p:nvSpPr>
          <p:cNvPr id="14" name="Rounded Rectangle 14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доступ по идентификатору</a:t>
            </a:r>
            <a:endParaRPr sz="2000"/>
          </a:p>
        </p:txBody>
      </p:sp>
      <p:sp>
        <p:nvSpPr>
          <p:cNvPr id="15" name="Rounded Rectangle 15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JSON</a:t>
            </a:r>
            <a:endParaRPr sz="20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Словари внутри Python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2200000"/>
            <a:ext cx="32004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2" name="TextBox 12"/>
          <p:cNvSpPr txBox="1"/>
          <p:nvPr/>
        </p:nvSpPr>
        <p:spPr>
          <a:xfrm>
            <a:off x="822960" y="3450000"/>
            <a:ext cx="32004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глобальные переменные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4480560" y="2200000"/>
            <a:ext cx="32004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__dict__</a:t>
            </a:r>
            <a:endParaRPr sz="2400"/>
          </a:p>
        </p:txBody>
      </p:sp>
      <p:sp>
        <p:nvSpPr>
          <p:cNvPr id="14" name="TextBox 14"/>
          <p:cNvSpPr txBox="1"/>
          <p:nvPr/>
        </p:nvSpPr>
        <p:spPr>
          <a:xfrm>
            <a:off x="4480560" y="3450000"/>
            <a:ext cx="32004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атрибуты объектов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5" name="Rounded Rectangle 15"/>
          <p:cNvSpPr/>
          <p:nvPr/>
        </p:nvSpPr>
        <p:spPr>
          <a:xfrm>
            <a:off x="8138160" y="2200000"/>
            <a:ext cx="32004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kwargs</a:t>
            </a:r>
            <a:endParaRPr sz="2400"/>
          </a:p>
        </p:txBody>
      </p:sp>
      <p:sp>
        <p:nvSpPr>
          <p:cNvPr id="16" name="TextBox 16"/>
          <p:cNvSpPr txBox="1"/>
          <p:nvPr/>
        </p:nvSpPr>
        <p:spPr>
          <a:xfrm>
            <a:off x="8138160" y="3450000"/>
            <a:ext cx="32004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именованные аргументы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Хешируемость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Хеш-функция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400" y="14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объекты разного размера</a:t>
            </a:r>
            <a:endParaRPr lang="en-US" sz="1600">
              <a:solidFill>
                <a:schemeClr val="accent1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678000" y="1400000"/>
            <a:ext cx="29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>
                <a:solidFill>
                  <a:schemeClr val="accent1"/>
                </a:solidFill>
              </a:rPr>
              <a:t>целые числа одного размера</a:t>
            </a:r>
            <a:endParaRPr lang="en-US" sz="1600">
              <a:solidFill>
                <a:schemeClr val="accent1"/>
              </a:solidFill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4500000" y="1850000"/>
            <a:ext cx="3000000" cy="3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хеш-функция</a:t>
            </a:r>
            <a:endParaRPr sz="2400"/>
          </a:p>
        </p:txBody>
      </p:sp>
      <p:sp>
        <p:nvSpPr>
          <p:cNvPr id="14" name="Rounded Rectangle 14"/>
          <p:cNvSpPr/>
          <p:nvPr/>
        </p:nvSpPr>
        <p:spPr>
          <a:xfrm>
            <a:off x="608400" y="200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endParaRPr sz="2200"/>
          </a:p>
        </p:txBody>
      </p:sp>
      <p:cxnSp>
        <p:nvCxnSpPr>
          <p:cNvPr id="15" name="Connector 15"/>
          <p:cNvCxnSpPr/>
          <p:nvPr/>
        </p:nvCxnSpPr>
        <p:spPr>
          <a:xfrm>
            <a:off x="3508400" y="2400000"/>
            <a:ext cx="9916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Connector 16"/>
          <p:cNvCxnSpPr/>
          <p:nvPr/>
        </p:nvCxnSpPr>
        <p:spPr>
          <a:xfrm>
            <a:off x="7500000" y="2400000"/>
            <a:ext cx="1178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7"/>
          <p:cNvSpPr/>
          <p:nvPr/>
        </p:nvSpPr>
        <p:spPr>
          <a:xfrm>
            <a:off x="8678000" y="200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4817203965</a:t>
            </a:r>
            <a:endParaRPr sz="2200"/>
          </a:p>
        </p:txBody>
      </p:sp>
      <p:sp>
        <p:nvSpPr>
          <p:cNvPr id="18" name="Rounded Rectangle 18"/>
          <p:cNvSpPr/>
          <p:nvPr/>
        </p:nvSpPr>
        <p:spPr>
          <a:xfrm>
            <a:off x="608400" y="305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endParaRPr sz="2200"/>
          </a:p>
        </p:txBody>
      </p:sp>
      <p:cxnSp>
        <p:nvCxnSpPr>
          <p:cNvPr id="19" name="Connector 19"/>
          <p:cNvCxnSpPr/>
          <p:nvPr/>
        </p:nvCxnSpPr>
        <p:spPr>
          <a:xfrm>
            <a:off x="3508400" y="3450000"/>
            <a:ext cx="9916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Connector 20"/>
          <p:cNvCxnSpPr/>
          <p:nvPr/>
        </p:nvCxnSpPr>
        <p:spPr>
          <a:xfrm>
            <a:off x="7500000" y="3450000"/>
            <a:ext cx="1178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Rounded Rectangle 21"/>
          <p:cNvSpPr/>
          <p:nvPr/>
        </p:nvSpPr>
        <p:spPr>
          <a:xfrm>
            <a:off x="8678000" y="305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9053716482</a:t>
            </a:r>
            <a:endParaRPr sz="2200"/>
          </a:p>
        </p:txBody>
      </p:sp>
      <p:sp>
        <p:nvSpPr>
          <p:cNvPr id="22" name="Rounded Rectangle 22"/>
          <p:cNvSpPr/>
          <p:nvPr/>
        </p:nvSpPr>
        <p:spPr>
          <a:xfrm>
            <a:off x="608400" y="410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lang="en-US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en-US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lang="en-US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lang="en-US"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lang="en-US"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cxnSp>
        <p:nvCxnSpPr>
          <p:cNvPr id="23" name="Connector 23"/>
          <p:cNvCxnSpPr/>
          <p:nvPr/>
        </p:nvCxnSpPr>
        <p:spPr>
          <a:xfrm>
            <a:off x="3508400" y="4500000"/>
            <a:ext cx="9916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Connector 24"/>
          <p:cNvCxnSpPr/>
          <p:nvPr/>
        </p:nvCxnSpPr>
        <p:spPr>
          <a:xfrm>
            <a:off x="7500000" y="4500000"/>
            <a:ext cx="1178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Rounded Rectangle 25"/>
          <p:cNvSpPr/>
          <p:nvPr/>
        </p:nvSpPr>
        <p:spPr>
          <a:xfrm>
            <a:off x="8678000" y="4100000"/>
            <a:ext cx="29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en-US"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2640198357</a:t>
            </a:r>
            <a:endParaRPr sz="2200"/>
          </a:p>
        </p:txBody>
      </p:sp>
      <p:sp>
        <p:nvSpPr>
          <p:cNvPr id="26" name="TextBox 26"/>
          <p:cNvSpPr txBox="1"/>
          <p:nvPr/>
        </p:nvSpPr>
        <p:spPr>
          <a:xfrm>
            <a:off x="608400" y="5350000"/>
            <a:ext cx="109692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один и тот же объект — всегда один и тот же хеш</a:t>
            </a:r>
            <a:endParaRPr lang="en-US" sz="24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Хеш-таблица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608400" y="2300000"/>
            <a:ext cx="23298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объект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3488200" y="2300000"/>
            <a:ext cx="23298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cxnSp>
        <p:nvCxnSpPr>
          <p:cNvPr id="13" name="Connector 13"/>
          <p:cNvCxnSpPr/>
          <p:nvPr/>
        </p:nvCxnSpPr>
        <p:spPr>
          <a:xfrm>
            <a:off x="2938200" y="2950000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6368000" y="2300000"/>
            <a:ext cx="23298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целое число</a:t>
            </a:r>
            <a:endParaRPr sz="2000"/>
          </a:p>
        </p:txBody>
      </p:sp>
      <p:cxnSp>
        <p:nvCxnSpPr>
          <p:cNvPr id="15" name="Connector 15"/>
          <p:cNvCxnSpPr/>
          <p:nvPr/>
        </p:nvCxnSpPr>
        <p:spPr>
          <a:xfrm>
            <a:off x="5818000" y="2950000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Rounded Rectangle 16"/>
          <p:cNvSpPr/>
          <p:nvPr/>
        </p:nvSpPr>
        <p:spPr>
          <a:xfrm>
            <a:off x="9247800" y="2300000"/>
            <a:ext cx="23298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ячейка таблицы</a:t>
            </a:r>
            <a:endParaRPr sz="2000"/>
          </a:p>
        </p:txBody>
      </p:sp>
      <p:cxnSp>
        <p:nvCxnSpPr>
          <p:cNvPr id="17" name="Connector 17"/>
          <p:cNvCxnSpPr/>
          <p:nvPr/>
        </p:nvCxnSpPr>
        <p:spPr>
          <a:xfrm>
            <a:off x="8697800" y="2950000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TextBox 18"/>
          <p:cNvSpPr txBox="1"/>
          <p:nvPr/>
        </p:nvSpPr>
        <p:spPr>
          <a:xfrm>
            <a:off x="608400" y="4000000"/>
            <a:ext cx="109692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место находим сразу, без перебора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4" grpId="1" animBg="1"/>
      <p:bldP spid="16" grpId="0" animBg="1"/>
      <p:bldP spid="16" grpId="1" animBg="1"/>
      <p:bldP spid="18" grpId="0"/>
      <p:bldP spid="1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Функция hash()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203" y="1793875"/>
            <a:ext cx="10881360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42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(True))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 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 charset="0"/>
                <a:cs typeface="Consolas" panose="020B0609020204030204" charset="0"/>
              </a:rPr>
              <a:t>"hello"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sz="3200">
                <a:latin typeface="Consolas" panose="020B0609020204030204" charset="0"/>
                <a:cs typeface="Consolas" panose="020B0609020204030204" charset="0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некоторое</a:t>
            </a:r>
            <a:r>
              <a:rPr lang="ru-RU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целое число</a:t>
            </a:r>
            <a:endParaRPr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algn="l"/>
            <a:endParaRPr sz="3200">
              <a:latin typeface="Consolas" panose="020B0609020204030204" charset="0"/>
              <a:cs typeface="Consolas" panose="020B0609020204030204" charset="0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r>
              <a:rPr sz="3200">
                <a:latin typeface="Consolas" panose="020B0609020204030204" charset="0"/>
                <a:cs typeface="Consolas" panose="020B0609020204030204" charset="0"/>
                <a:sym typeface="+mn-ea"/>
              </a:rPr>
              <a:t> == </a:t>
            </a:r>
            <a:r>
              <a:rPr sz="3200">
                <a:solidFill>
                  <a:schemeClr val="accent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3.0</a:t>
            </a:r>
            <a:r>
              <a:rPr sz="32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  <a:sym typeface="+mn-ea"/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sz="3200">
              <a:solidFill>
                <a:schemeClr val="accent4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Хешируемые объекты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(True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(None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frozenset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Нехешируемые объекты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'dict'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'set'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 кортежа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75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хеш успешно вычислен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hash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Хешируемость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608400" y="1600000"/>
            <a:ext cx="5176800" cy="8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хешируемые</a:t>
            </a:r>
            <a:endParaRPr sz="2400"/>
          </a:p>
        </p:txBody>
      </p:sp>
      <p:sp>
        <p:nvSpPr>
          <p:cNvPr id="12" name="Rounded Rectangle 12"/>
          <p:cNvSpPr/>
          <p:nvPr/>
        </p:nvSpPr>
        <p:spPr>
          <a:xfrm>
            <a:off x="6411600" y="1600000"/>
            <a:ext cx="5176800" cy="8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bg1"/>
                </a:solidFill>
              </a:rPr>
              <a:t>нехешируемые</a:t>
            </a:r>
            <a:endParaRPr sz="2400"/>
          </a:p>
        </p:txBody>
      </p:sp>
      <p:sp>
        <p:nvSpPr>
          <p:cNvPr id="13" name="Rounded Rectangle 13"/>
          <p:cNvSpPr/>
          <p:nvPr/>
        </p:nvSpPr>
        <p:spPr>
          <a:xfrm>
            <a:off x="608400" y="2650000"/>
            <a:ext cx="5176800" cy="34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int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float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bool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str</a:t>
            </a:r>
            <a:endParaRPr sz="2200"/>
          </a:p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frozenset</a:t>
            </a:r>
            <a:endParaRPr sz="2200"/>
          </a:p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6411600" y="2650000"/>
            <a:ext cx="5176800" cy="34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endParaRPr sz="2200"/>
          </a:p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endParaRPr sz="2200"/>
          </a:p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Создание словарей</a:t>
            </a:r>
            <a:endParaRPr sz="6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Способы создания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1196000" y="1920240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литерал</a:t>
            </a:r>
            <a:endParaRPr sz="1800"/>
          </a:p>
        </p:txBody>
      </p:sp>
      <p:sp>
        <p:nvSpPr>
          <p:cNvPr id="12" name="Rounded Rectangle 12"/>
          <p:cNvSpPr/>
          <p:nvPr/>
        </p:nvSpPr>
        <p:spPr>
          <a:xfrm>
            <a:off x="6396000" y="1920240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включение</a:t>
            </a:r>
            <a:endParaRPr sz="1800"/>
          </a:p>
        </p:txBody>
      </p:sp>
      <p:sp>
        <p:nvSpPr>
          <p:cNvPr id="13" name="Rounded Rectangle 13"/>
          <p:cNvSpPr/>
          <p:nvPr/>
        </p:nvSpPr>
        <p:spPr>
          <a:xfrm>
            <a:off x="1196000" y="3749039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конструктор</a:t>
            </a:r>
            <a:endParaRPr sz="1800"/>
          </a:p>
        </p:txBody>
      </p:sp>
      <p:sp>
        <p:nvSpPr>
          <p:cNvPr id="14" name="Rounded Rectangle 14"/>
          <p:cNvSpPr/>
          <p:nvPr/>
        </p:nvSpPr>
        <p:spPr>
          <a:xfrm>
            <a:off x="6396000" y="3749039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метод класса</a:t>
            </a:r>
            <a:endParaRPr sz="1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2" grpId="0" animBg="1"/>
      <p:bldP spid="1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Словарные литералы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2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square_roots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1.0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2.0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9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{}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square_roots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{1: 1.0, 4: 2.0, 9: 3.0}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Многострочный литерал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2056765"/>
            <a:ext cx="10881360" cy="2575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config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"host"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"localhost"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"port"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8080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"debug"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endParaRPr sz="3200"/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Ключи хешируемые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9235" y="1798320"/>
            <a:ext cx="11432000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valid_dict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"point"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valid_dict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point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invalid_dict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"point"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Повторяющиеся ключи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815465"/>
            <a:ext cx="10881360" cy="3616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duplicated_dict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duplicated_dict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3, 'b': 2}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"int"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1.0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"float"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True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"bool"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})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{1: 'bool'}</a:t>
            </a:r>
            <a:endParaRPr sz="3200"/>
          </a:p>
          <a:p>
            <a:pPr algn="l"/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Словарное включение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520200"/>
            <a:ext cx="7754538" cy="75000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ключ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значение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</p:txBody>
      </p:sp>
      <p:sp>
        <p:nvSpPr>
          <p:cNvPr id="12" name="TextBox 12"/>
          <p:cNvSpPr txBox="1"/>
          <p:nvPr/>
        </p:nvSpPr>
        <p:spPr>
          <a:xfrm>
            <a:off x="699770" y="2468880"/>
            <a:ext cx="7175500" cy="3107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{1: 1, 2: 4, 3: 9, 4: 16, 5: 25}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Включение с условием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520200"/>
            <a:ext cx="9597908" cy="75000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ключ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значение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условие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</p:txBody>
      </p:sp>
      <p:sp>
        <p:nvSpPr>
          <p:cNvPr id="12" name="TextBox 12"/>
          <p:cNvSpPr txBox="1"/>
          <p:nvPr/>
        </p:nvSpPr>
        <p:spPr>
          <a:xfrm>
            <a:off x="699770" y="2476500"/>
            <a:ext cx="940435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even_squares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%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even_squares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{2: 4, 4: 16, 6: 36, 8: 64, 10: 100}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name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"Alice"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age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=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{'name': 'Alice', 'age': 25}</a:t>
            </a:r>
            <a:endParaRPr sz="3200"/>
          </a:p>
          <a:p>
            <a:pPr algn="l"/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dict(): другой словарь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50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original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1, 'b': 2}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copied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1, 'b': 2, 'c': 3}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dict(): пары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811655"/>
            <a:ext cx="11203305" cy="332359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pairs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pairs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([(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)]))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ValueError: 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...</a:t>
            </a:r>
            <a:endParaRPr sz="3200"/>
          </a:p>
          <a:p>
            <a:pPr algn="l"/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dict(): комбинация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1, 'b': 2, 'c': 3}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base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a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100, 'b': 2}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dict.fromkeys()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851535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None, 'b': None, 'c': None}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0, 'b': 0, 'c': 0}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fromkeys и список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790065"/>
            <a:ext cx="962723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shared_dict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shared_dict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shared_dict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{'a': [1], 'b': [1], 'c': [1]}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shared_dict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shared_dict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True - это один и тот же список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Отдельные списки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764030"/>
            <a:ext cx="10881360" cy="2245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separate_dict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separate_dict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separate_dict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[1], 'b': [], 'c': []}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fromkeys и список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400" y="1500000"/>
            <a:ext cx="5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sp>
        <p:nvSpPr>
          <p:cNvPr id="12" name="TextBox 12"/>
          <p:cNvSpPr txBox="1"/>
          <p:nvPr/>
        </p:nvSpPr>
        <p:spPr>
          <a:xfrm>
            <a:off x="6300000" y="1500000"/>
            <a:ext cx="5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800000" y="2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endParaRPr sz="2200"/>
          </a:p>
        </p:txBody>
      </p:sp>
      <p:cxnSp>
        <p:nvCxnSpPr>
          <p:cNvPr id="14" name="Connector 14"/>
          <p:cNvCxnSpPr/>
          <p:nvPr/>
        </p:nvCxnSpPr>
        <p:spPr>
          <a:xfrm>
            <a:off x="2000000" y="2750000"/>
            <a:ext cx="1900000" cy="9000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Rounded Rectangle 15"/>
          <p:cNvSpPr/>
          <p:nvPr/>
        </p:nvSpPr>
        <p:spPr>
          <a:xfrm>
            <a:off x="6500000" y="2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endParaRPr sz="2200"/>
          </a:p>
        </p:txBody>
      </p:sp>
      <p:cxnSp>
        <p:nvCxnSpPr>
          <p:cNvPr id="16" name="Connector 16"/>
          <p:cNvCxnSpPr/>
          <p:nvPr/>
        </p:nvCxnSpPr>
        <p:spPr>
          <a:xfrm>
            <a:off x="7700000" y="2750000"/>
            <a:ext cx="2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7"/>
          <p:cNvSpPr/>
          <p:nvPr/>
        </p:nvSpPr>
        <p:spPr>
          <a:xfrm>
            <a:off x="9700000" y="2400000"/>
            <a:ext cx="18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18" name="Rounded Rectangle 18"/>
          <p:cNvSpPr/>
          <p:nvPr/>
        </p:nvSpPr>
        <p:spPr>
          <a:xfrm>
            <a:off x="800000" y="3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endParaRPr sz="2200"/>
          </a:p>
        </p:txBody>
      </p:sp>
      <p:cxnSp>
        <p:nvCxnSpPr>
          <p:cNvPr id="19" name="Connector 19"/>
          <p:cNvCxnSpPr/>
          <p:nvPr/>
        </p:nvCxnSpPr>
        <p:spPr>
          <a:xfrm flipV="1">
            <a:off x="2000000" y="3650000"/>
            <a:ext cx="1900000" cy="1000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Rounded Rectangle 20"/>
          <p:cNvSpPr/>
          <p:nvPr/>
        </p:nvSpPr>
        <p:spPr>
          <a:xfrm>
            <a:off x="6500000" y="3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endParaRPr sz="2200"/>
          </a:p>
        </p:txBody>
      </p:sp>
      <p:cxnSp>
        <p:nvCxnSpPr>
          <p:cNvPr id="21" name="Connector 21"/>
          <p:cNvCxnSpPr/>
          <p:nvPr/>
        </p:nvCxnSpPr>
        <p:spPr>
          <a:xfrm>
            <a:off x="7700000" y="3750000"/>
            <a:ext cx="2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Rounded Rectangle 22"/>
          <p:cNvSpPr/>
          <p:nvPr/>
        </p:nvSpPr>
        <p:spPr>
          <a:xfrm>
            <a:off x="9700000" y="3400000"/>
            <a:ext cx="18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23" name="Rounded Rectangle 23"/>
          <p:cNvSpPr/>
          <p:nvPr/>
        </p:nvSpPr>
        <p:spPr>
          <a:xfrm>
            <a:off x="800000" y="4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endParaRPr sz="2200"/>
          </a:p>
        </p:txBody>
      </p:sp>
      <p:cxnSp>
        <p:nvCxnSpPr>
          <p:cNvPr id="24" name="Connector 24"/>
          <p:cNvCxnSpPr/>
          <p:nvPr/>
        </p:nvCxnSpPr>
        <p:spPr>
          <a:xfrm flipV="1">
            <a:off x="2000000" y="3650000"/>
            <a:ext cx="1900000" cy="11000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Rounded Rectangle 25"/>
          <p:cNvSpPr/>
          <p:nvPr/>
        </p:nvSpPr>
        <p:spPr>
          <a:xfrm>
            <a:off x="6500000" y="4400000"/>
            <a:ext cx="12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endParaRPr sz="2200"/>
          </a:p>
        </p:txBody>
      </p:sp>
      <p:cxnSp>
        <p:nvCxnSpPr>
          <p:cNvPr id="26" name="Connector 26"/>
          <p:cNvCxnSpPr/>
          <p:nvPr/>
        </p:nvCxnSpPr>
        <p:spPr>
          <a:xfrm>
            <a:off x="7700000" y="4750000"/>
            <a:ext cx="2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Rounded Rectangle 27"/>
          <p:cNvSpPr/>
          <p:nvPr/>
        </p:nvSpPr>
        <p:spPr>
          <a:xfrm>
            <a:off x="9700000" y="4400000"/>
            <a:ext cx="1800000" cy="7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28" name="Rounded Rectangle 28"/>
          <p:cNvSpPr/>
          <p:nvPr/>
        </p:nvSpPr>
        <p:spPr>
          <a:xfrm>
            <a:off x="3900000" y="3100000"/>
            <a:ext cx="18000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</p:txBody>
      </p:sp>
      <p:sp>
        <p:nvSpPr>
          <p:cNvPr id="29" name="TextBox 29"/>
          <p:cNvSpPr txBox="1"/>
          <p:nvPr/>
        </p:nvSpPr>
        <p:spPr>
          <a:xfrm>
            <a:off x="608400" y="5500000"/>
            <a:ext cx="53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один и тот же список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300000" y="5500000"/>
            <a:ext cx="53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отдельные списки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 animBg="1"/>
      <p:bldP spid="17" grpId="0" animBg="1"/>
      <p:bldP spid="20" grpId="0" animBg="1"/>
      <p:bldP spid="22" grpId="0" animBg="1"/>
      <p:bldP spid="25" grpId="0" animBg="1"/>
      <p:bldP spid="27" grpId="0" animBg="1"/>
      <p:bldP spid="30" grpId="0"/>
      <p:bldP spid="12" grpId="1"/>
      <p:bldP spid="15" grpId="1" animBg="1"/>
      <p:bldP spid="17" grpId="1" animBg="1"/>
      <p:bldP spid="20" grpId="1" animBg="1"/>
      <p:bldP spid="22" grpId="1" animBg="1"/>
      <p:bldP spid="25" grpId="1" animBg="1"/>
      <p:bldP spid="27" grpId="1" animBg="1"/>
      <p:bldP spid="30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Итерирование</a:t>
            </a:r>
            <a:endParaRPr sz="6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Обход ключей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apple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banana</a:t>
            </a:r>
            <a:endParaRPr sz="2800">
              <a:solidFill>
                <a:schemeClr val="accent4"/>
              </a:solidFill>
            </a:endParaRPr>
          </a:p>
          <a:p>
            <a:pPr algn="l"/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cherry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keys, values, items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00000" y="1900000"/>
            <a:ext cx="46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2" name="Rounded Rectangle 12"/>
          <p:cNvSpPr/>
          <p:nvPr/>
        </p:nvSpPr>
        <p:spPr>
          <a:xfrm>
            <a:off x="6400000" y="1900000"/>
            <a:ext cx="47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ключи</a:t>
            </a:r>
            <a:endParaRPr sz="2200"/>
          </a:p>
        </p:txBody>
      </p:sp>
      <p:cxnSp>
        <p:nvCxnSpPr>
          <p:cNvPr id="13" name="Connector 13"/>
          <p:cNvCxnSpPr/>
          <p:nvPr/>
        </p:nvCxnSpPr>
        <p:spPr>
          <a:xfrm>
            <a:off x="5400000" y="2375000"/>
            <a:ext cx="1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800000" y="3200000"/>
            <a:ext cx="46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5" name="Rounded Rectangle 15"/>
          <p:cNvSpPr/>
          <p:nvPr/>
        </p:nvSpPr>
        <p:spPr>
          <a:xfrm>
            <a:off x="6400000" y="3200000"/>
            <a:ext cx="47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значения</a:t>
            </a:r>
            <a:endParaRPr sz="2200"/>
          </a:p>
        </p:txBody>
      </p:sp>
      <p:cxnSp>
        <p:nvCxnSpPr>
          <p:cNvPr id="16" name="Connector 16"/>
          <p:cNvCxnSpPr/>
          <p:nvPr/>
        </p:nvCxnSpPr>
        <p:spPr>
          <a:xfrm>
            <a:off x="5400000" y="3675000"/>
            <a:ext cx="1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7"/>
          <p:cNvSpPr/>
          <p:nvPr/>
        </p:nvSpPr>
        <p:spPr>
          <a:xfrm>
            <a:off x="800000" y="4500000"/>
            <a:ext cx="46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8" name="Rounded Rectangle 18"/>
          <p:cNvSpPr/>
          <p:nvPr/>
        </p:nvSpPr>
        <p:spPr>
          <a:xfrm>
            <a:off x="6400000" y="4500000"/>
            <a:ext cx="4700000" cy="9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пары (ключ, значение)</a:t>
            </a:r>
            <a:endParaRPr sz="2200"/>
          </a:p>
        </p:txBody>
      </p:sp>
      <p:cxnSp>
        <p:nvCxnSpPr>
          <p:cNvPr id="19" name="Connector 19"/>
          <p:cNvCxnSpPr/>
          <p:nvPr/>
        </p:nvCxnSpPr>
        <p:spPr>
          <a:xfrm>
            <a:off x="5400000" y="4975000"/>
            <a:ext cx="10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2" grpId="1" animBg="1"/>
      <p:bldP spid="11" grpId="1" animBg="1"/>
      <p:bldP spid="14" grpId="0" animBg="1"/>
      <p:bldP spid="15" grpId="0" animBg="1"/>
      <p:bldP spid="14" grpId="1" animBg="1"/>
      <p:bldP spid="15" grpId="1" animBg="1"/>
      <p:bldP spid="17" grpId="0" animBg="1"/>
      <p:bldP spid="18" grpId="0" animBg="1"/>
      <p:bldP spid="17" grpId="1" animBg="1"/>
      <p:bldP spid="1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Представления</a:t>
            </a:r>
            <a:endParaRPr lang="ru-RU" alt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954151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dict_keys(['apple', 'banana'])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dict_values([100, 60])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dict_items([('apple', 100), ('banana', 60)])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Обход значений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prices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"apple"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100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"banana"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}</a:t>
            </a:r>
            <a:endParaRPr sz="3200"/>
          </a:p>
          <a:p>
            <a:pPr algn="l"/>
            <a:endParaRPr sz="3200">
              <a:solidFill>
                <a:schemeClr val="accent6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values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100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60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Обход пар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prices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=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"apple"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100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"banana"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: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60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}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items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"costs"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apple costs 100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banana costs 60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Обновление представлений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904684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names_view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keys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names_view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dict_keys(['apple', 'banana'])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prices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"cherry"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250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names_view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dict_keys(['apple', 'banana', 'cherry'])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names_view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Изменение при обходе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9648825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    </a:t>
            </a:r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RuntimeError: dictionary changed size</a:t>
            </a:r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...</a:t>
            </a:r>
            <a:endParaRPr lang="en-US"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Чтение элементов</a:t>
            </a:r>
            <a:endParaRPr sz="6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Квадратные скобки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87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Ошибка KeyError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87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'city'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get()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"unknown"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 - ключ есть, default игнорируется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 - ключа нет, default не указан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"unknown"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unknown -</a:t>
            </a:r>
            <a:r>
              <a:rPr lang="en-US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ключа нет, вернули переданный default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Практический пример</a:t>
            </a:r>
            <a:endParaRPr lang="ru-RU" alt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888174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letters_count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text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</a:rPr>
              <a:t>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letters_count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endParaRPr lang="ru-RU"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ru-RU" sz="2800">
                <a:latin typeface="Consolas" panose="020B0609020204030204"/>
                <a:cs typeface="Consolas" panose="020B0609020204030204"/>
              </a:rPr>
              <a:t>       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letters_count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+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lang="ru-RU"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    </a:t>
            </a:r>
            <a:r>
              <a:rPr lang="ru-RU"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letters_count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{'b': 1, 'a': 3, 'n': 2}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setdefault()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setdefault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"Bob"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Alice - ключ был, значение не тронуто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setdefault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25 - ключа не было, он добавлен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Практический пример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"blueberry"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words_by_letter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words_by_letter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setdefault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append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words_by_letter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{'a': ['apple'], 'b': ['banana', 'blueberry']}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выбрать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900000"/>
            <a:ext cx="48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ключ обязан быть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6300000" y="1900000"/>
            <a:ext cx="53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000"/>
          </a:p>
        </p:txBody>
      </p:sp>
      <p:cxnSp>
        <p:nvCxnSpPr>
          <p:cNvPr id="13" name="Connector 13"/>
          <p:cNvCxnSpPr/>
          <p:nvPr/>
        </p:nvCxnSpPr>
        <p:spPr>
          <a:xfrm>
            <a:off x="5500000" y="2400000"/>
            <a:ext cx="8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700000" y="3300000"/>
            <a:ext cx="48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ключ может отсутствовать</a:t>
            </a:r>
            <a:endParaRPr sz="2000"/>
          </a:p>
        </p:txBody>
      </p:sp>
      <p:sp>
        <p:nvSpPr>
          <p:cNvPr id="15" name="Rounded Rectangle 15"/>
          <p:cNvSpPr/>
          <p:nvPr/>
        </p:nvSpPr>
        <p:spPr>
          <a:xfrm>
            <a:off x="6300000" y="3300000"/>
            <a:ext cx="53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get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6" name="Connector 16"/>
          <p:cNvCxnSpPr/>
          <p:nvPr/>
        </p:nvCxnSpPr>
        <p:spPr>
          <a:xfrm>
            <a:off x="5500000" y="3800000"/>
            <a:ext cx="8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7"/>
          <p:cNvSpPr/>
          <p:nvPr/>
        </p:nvSpPr>
        <p:spPr>
          <a:xfrm>
            <a:off x="700000" y="4700000"/>
            <a:ext cx="48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может отсутствовать и нужен сразу</a:t>
            </a:r>
            <a:endParaRPr sz="2000"/>
          </a:p>
        </p:txBody>
      </p:sp>
      <p:sp>
        <p:nvSpPr>
          <p:cNvPr id="18" name="Rounded Rectangle 18"/>
          <p:cNvSpPr/>
          <p:nvPr/>
        </p:nvSpPr>
        <p:spPr>
          <a:xfrm>
            <a:off x="6300000" y="4700000"/>
            <a:ext cx="5300000" cy="10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setdefault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9" name="Connector 19"/>
          <p:cNvCxnSpPr/>
          <p:nvPr/>
        </p:nvCxnSpPr>
        <p:spPr>
          <a:xfrm>
            <a:off x="5500000" y="5200000"/>
            <a:ext cx="8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800"/>
              <a:t>Изменение словарей</a:t>
            </a:r>
            <a:endParaRPr sz="5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Квадратные скобки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26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26, 'city': 'Paris'}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update()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496695"/>
            <a:ext cx="11203305" cy="44926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({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26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endParaRPr sz="22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26, 'city': 'Paris'}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"job"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"engineer"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27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)])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27, 'city': 'Paris', 'job': 'engineer'}</a:t>
            </a:r>
            <a:endParaRPr sz="2200"/>
          </a:p>
          <a:p>
            <a:pPr algn="l"/>
            <a:endParaRPr sz="2200"/>
          </a:p>
          <a:p>
            <a:pPr algn="l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city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"Berlin"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l"/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27, 'city': 'Berlin', 'job': 'engineer'}</a:t>
            </a:r>
            <a:endParaRPr sz="2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update() возвращает None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826833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result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None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|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4154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"theme"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"light"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"font_size"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custom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"font_size"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16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"language"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"en"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merged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custom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merged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{'theme': 'light', 'font_size': 16, 'language': 'en'}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defaults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{'theme': 'light', 'font_size': 12}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custom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{'font_size': 16, 'language': 'en'}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|=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3107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settings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"theme"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"light"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"font_size"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settings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"font_size"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16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settings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|=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"language"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"en"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)]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settings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{'theme': 'light', 'font_size': 16, 'language': 'en'}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update, | и |=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1750000"/>
            <a:ext cx="3200400" cy="9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other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822960" y="29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меняет исходный</a:t>
            </a:r>
            <a:endParaRPr sz="2200"/>
          </a:p>
        </p:txBody>
      </p:sp>
      <p:sp>
        <p:nvSpPr>
          <p:cNvPr id="13" name="Rounded Rectangle 13"/>
          <p:cNvSpPr/>
          <p:nvPr/>
        </p:nvSpPr>
        <p:spPr>
          <a:xfrm>
            <a:off x="822960" y="43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возвращает None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4480560" y="1750000"/>
            <a:ext cx="3200400" cy="9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|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second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4480560" y="29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не меняет исходный</a:t>
            </a:r>
            <a:endParaRPr sz="2200"/>
          </a:p>
        </p:txBody>
      </p:sp>
      <p:sp>
        <p:nvSpPr>
          <p:cNvPr id="16" name="Rounded Rectangle 16"/>
          <p:cNvSpPr/>
          <p:nvPr/>
        </p:nvSpPr>
        <p:spPr>
          <a:xfrm>
            <a:off x="4480560" y="43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новый словарь</a:t>
            </a:r>
            <a:endParaRPr sz="2200"/>
          </a:p>
        </p:txBody>
      </p:sp>
      <p:sp>
        <p:nvSpPr>
          <p:cNvPr id="17" name="Rounded Rectangle 17"/>
          <p:cNvSpPr/>
          <p:nvPr/>
        </p:nvSpPr>
        <p:spPr>
          <a:xfrm>
            <a:off x="8138160" y="1750000"/>
            <a:ext cx="3200400" cy="9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first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|=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second</a:t>
            </a:r>
            <a:endParaRPr sz="2200"/>
          </a:p>
        </p:txBody>
      </p:sp>
      <p:sp>
        <p:nvSpPr>
          <p:cNvPr id="18" name="Rounded Rectangle 18"/>
          <p:cNvSpPr/>
          <p:nvPr/>
        </p:nvSpPr>
        <p:spPr>
          <a:xfrm>
            <a:off x="8138160" y="29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меняет исходный</a:t>
            </a:r>
            <a:endParaRPr sz="2200"/>
          </a:p>
        </p:txBody>
      </p:sp>
      <p:sp>
        <p:nvSpPr>
          <p:cNvPr id="19" name="Rounded Rectangle 19"/>
          <p:cNvSpPr/>
          <p:nvPr/>
        </p:nvSpPr>
        <p:spPr>
          <a:xfrm>
            <a:off x="8138160" y="43500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</a:rPr>
              <a:t>тот же словарь</a:t>
            </a:r>
            <a:endParaRPr sz="2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1" grpId="1" animBg="1"/>
      <p:bldP spid="12" grpId="1" animBg="1"/>
      <p:bldP spid="13" grpId="1" animBg="1"/>
      <p:bldP spid="14" grpId="0" animBg="1"/>
      <p:bldP spid="15" grpId="0" animBg="1"/>
      <p:bldP spid="16" grpId="0" animBg="1"/>
      <p:bldP spid="14" grpId="1" animBg="1"/>
      <p:bldP spid="15" grpId="1" animBg="1"/>
      <p:bldP spid="16" grpId="1" animBg="1"/>
      <p:bldP spid="17" grpId="0" animBg="1"/>
      <p:bldP spid="18" grpId="0" animBg="1"/>
      <p:bldP spid="19" grpId="0" animBg="1"/>
      <p:bldP spid="17" grpId="1" animBg="1"/>
      <p:bldP spid="18" grpId="1" animBg="1"/>
      <p:bldP spid="19" grpId="1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800"/>
              <a:t>Удаление элементов</a:t>
            </a:r>
            <a:endParaRPr sz="5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del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"job"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'job'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pop()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removed_city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removed_city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lang="ru-RU"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Paris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"job"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None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"job"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'job'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popitem: с конца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24667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"write"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4480560" y="24667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"test"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8138160" y="2466700"/>
            <a:ext cx="3200400" cy="11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"third"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"deploy"</a:t>
            </a:r>
            <a:endParaRPr sz="2000"/>
          </a:p>
        </p:txBody>
      </p:sp>
      <p:cxnSp>
        <p:nvCxnSpPr>
          <p:cNvPr id="14" name="Connector 14"/>
          <p:cNvCxnSpPr/>
          <p:nvPr/>
        </p:nvCxnSpPr>
        <p:spPr>
          <a:xfrm>
            <a:off x="4023360" y="3016700"/>
            <a:ext cx="4572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Connector 15"/>
          <p:cNvCxnSpPr/>
          <p:nvPr/>
        </p:nvCxnSpPr>
        <p:spPr>
          <a:xfrm>
            <a:off x="7680960" y="3016700"/>
            <a:ext cx="4572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6"/>
          <p:cNvSpPr txBox="1"/>
          <p:nvPr/>
        </p:nvSpPr>
        <p:spPr>
          <a:xfrm>
            <a:off x="2667000" y="1644695"/>
            <a:ext cx="6858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порядок добавления</a:t>
            </a:r>
            <a:endParaRPr sz="2000">
              <a:solidFill>
                <a:schemeClr val="accent1"/>
              </a:solidFill>
            </a:endParaRPr>
          </a:p>
        </p:txBody>
      </p:sp>
      <p:cxnSp>
        <p:nvCxnSpPr>
          <p:cNvPr id="17" name="Connector 17"/>
          <p:cNvCxnSpPr/>
          <p:nvPr/>
        </p:nvCxnSpPr>
        <p:spPr>
          <a:xfrm>
            <a:off x="9738360" y="3566700"/>
            <a:ext cx="0" cy="100000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TextBox 18"/>
          <p:cNvSpPr txBox="1"/>
          <p:nvPr/>
        </p:nvSpPr>
        <p:spPr>
          <a:xfrm>
            <a:off x="7838160" y="4666700"/>
            <a:ext cx="38004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sp>
        <p:nvSpPr>
          <p:cNvPr id="19" name="TextBox 19"/>
          <p:cNvSpPr txBox="1"/>
          <p:nvPr/>
        </p:nvSpPr>
        <p:spPr>
          <a:xfrm>
            <a:off x="7838160" y="5266700"/>
            <a:ext cx="38004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забирает последнюю пару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popitem()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488440"/>
            <a:ext cx="1120330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"Paris"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last_item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last_item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('city', 'Paris')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     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{'name': 'Alice', 'age': 25}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value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age 25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'popitem(): dictionary is empty'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Практический пример</a:t>
            </a:r>
            <a:endParaRPr lang="ru-RU" alt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415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"first"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"write"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"second"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"test"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"third"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"deploy"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while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task_name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task_action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  <a:p>
            <a:pPr algn="l"/>
            <a:r>
              <a:rPr sz="2400">
                <a:latin typeface="Consolas" panose="020B0609020204030204"/>
                <a:cs typeface="Consolas" panose="020B0609020204030204"/>
              </a:rPr>
              <a:t>   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task_name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task_action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400"/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third deploy</a:t>
            </a:r>
            <a:endParaRPr sz="2400">
              <a:solidFill>
                <a:schemeClr val="accent4"/>
              </a:solidFill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second test</a:t>
            </a:r>
            <a:endParaRPr sz="2400">
              <a:solidFill>
                <a:schemeClr val="accent4"/>
              </a:solidFill>
            </a:endParaRPr>
          </a:p>
          <a:p>
            <a:pPr algn="l"/>
            <a:r>
              <a:rPr lang="en-US"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first write</a:t>
            </a:r>
            <a:endParaRPr sz="24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clear()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785620"/>
            <a:ext cx="10881360" cy="3107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same_user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вторая ссылка на тот же словарь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   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{}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same_user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Что выбрать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550000"/>
            <a:ext cx="53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удалить по ключу</a:t>
            </a:r>
            <a:endParaRPr sz="1800"/>
          </a:p>
        </p:txBody>
      </p:sp>
      <p:sp>
        <p:nvSpPr>
          <p:cNvPr id="12" name="Rounded Rectangle 12"/>
          <p:cNvSpPr/>
          <p:nvPr/>
        </p:nvSpPr>
        <p:spPr>
          <a:xfrm>
            <a:off x="6500000" y="1550000"/>
            <a:ext cx="46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del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000"/>
          </a:p>
        </p:txBody>
      </p:sp>
      <p:cxnSp>
        <p:nvCxnSpPr>
          <p:cNvPr id="13" name="Connector 13"/>
          <p:cNvCxnSpPr/>
          <p:nvPr/>
        </p:nvCxnSpPr>
        <p:spPr>
          <a:xfrm>
            <a:off x="6000000" y="1950000"/>
            <a:ext cx="5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700000" y="2500000"/>
            <a:ext cx="53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удалить и получить значение</a:t>
            </a:r>
            <a:endParaRPr sz="1800"/>
          </a:p>
        </p:txBody>
      </p:sp>
      <p:sp>
        <p:nvSpPr>
          <p:cNvPr id="15" name="Rounded Rectangle 15"/>
          <p:cNvSpPr/>
          <p:nvPr/>
        </p:nvSpPr>
        <p:spPr>
          <a:xfrm>
            <a:off x="6500000" y="2500000"/>
            <a:ext cx="46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6" name="Connector 16"/>
          <p:cNvCxnSpPr/>
          <p:nvPr/>
        </p:nvCxnSpPr>
        <p:spPr>
          <a:xfrm>
            <a:off x="6000000" y="2900000"/>
            <a:ext cx="5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Rounded Rectangle 17"/>
          <p:cNvSpPr/>
          <p:nvPr/>
        </p:nvSpPr>
        <p:spPr>
          <a:xfrm>
            <a:off x="700000" y="3450000"/>
            <a:ext cx="53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ru-RU" sz="1800">
                <a:solidFill>
                  <a:schemeClr val="accent1"/>
                </a:solidFill>
              </a:rPr>
              <a:t>безопасно </a:t>
            </a:r>
            <a:r>
              <a:rPr sz="1800">
                <a:solidFill>
                  <a:schemeClr val="accent1"/>
                </a:solidFill>
              </a:rPr>
              <a:t>удалить</a:t>
            </a:r>
            <a:endParaRPr sz="1800"/>
          </a:p>
        </p:txBody>
      </p:sp>
      <p:sp>
        <p:nvSpPr>
          <p:cNvPr id="18" name="Rounded Rectangle 18"/>
          <p:cNvSpPr/>
          <p:nvPr/>
        </p:nvSpPr>
        <p:spPr>
          <a:xfrm>
            <a:off x="6500000" y="3450000"/>
            <a:ext cx="46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19" name="Connector 19"/>
          <p:cNvCxnSpPr/>
          <p:nvPr/>
        </p:nvCxnSpPr>
        <p:spPr>
          <a:xfrm>
            <a:off x="6000000" y="3850000"/>
            <a:ext cx="5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Rounded Rectangle 20"/>
          <p:cNvSpPr/>
          <p:nvPr/>
        </p:nvSpPr>
        <p:spPr>
          <a:xfrm>
            <a:off x="700000" y="4400000"/>
            <a:ext cx="53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удалить последнюю пару</a:t>
            </a:r>
            <a:endParaRPr sz="1800"/>
          </a:p>
        </p:txBody>
      </p:sp>
      <p:sp>
        <p:nvSpPr>
          <p:cNvPr id="21" name="Rounded Rectangle 21"/>
          <p:cNvSpPr/>
          <p:nvPr/>
        </p:nvSpPr>
        <p:spPr>
          <a:xfrm>
            <a:off x="6500000" y="4400000"/>
            <a:ext cx="46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popitem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22" name="Connector 22"/>
          <p:cNvCxnSpPr/>
          <p:nvPr/>
        </p:nvCxnSpPr>
        <p:spPr>
          <a:xfrm>
            <a:off x="6000000" y="4800000"/>
            <a:ext cx="5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Rounded Rectangle 23"/>
          <p:cNvSpPr/>
          <p:nvPr/>
        </p:nvSpPr>
        <p:spPr>
          <a:xfrm>
            <a:off x="700000" y="5350000"/>
            <a:ext cx="53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удалить все пары</a:t>
            </a:r>
            <a:endParaRPr sz="1800"/>
          </a:p>
        </p:txBody>
      </p:sp>
      <p:sp>
        <p:nvSpPr>
          <p:cNvPr id="24" name="Rounded Rectangle 24"/>
          <p:cNvSpPr/>
          <p:nvPr/>
        </p:nvSpPr>
        <p:spPr>
          <a:xfrm>
            <a:off x="6500000" y="5350000"/>
            <a:ext cx="4600000" cy="8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my_dict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0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0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000"/>
          </a:p>
        </p:txBody>
      </p:sp>
      <p:cxnSp>
        <p:nvCxnSpPr>
          <p:cNvPr id="25" name="Connector 25"/>
          <p:cNvCxnSpPr/>
          <p:nvPr/>
        </p:nvCxnSpPr>
        <p:spPr>
          <a:xfrm>
            <a:off x="6000000" y="5750000"/>
            <a:ext cx="5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Поиск в словаре</a:t>
            </a:r>
            <a:endParaRPr sz="6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in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"Alice"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"age"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"name"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"city"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  <a:sym typeface="+mn-ea"/>
              </a:rPr>
              <a:t>"Alice"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user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  <a:sym typeface="+mn-ea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False - "Alice" является значением</a:t>
            </a:r>
            <a:endParaRPr sz="3200"/>
          </a:p>
          <a:p>
            <a:pPr algn="l"/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Список </a:t>
            </a:r>
            <a:r>
              <a:rPr lang="en-US" altLang="ru-RU" sz="4445"/>
              <a:t>vs</a:t>
            </a:r>
            <a:r>
              <a:rPr lang="ru-RU" sz="4445"/>
              <a:t> словарь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08400" y="2021335"/>
            <a:ext cx="52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список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300000" y="2021335"/>
            <a:ext cx="5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словарь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" name="Rounded Rectangle 13"/>
          <p:cNvSpPr/>
          <p:nvPr/>
        </p:nvSpPr>
        <p:spPr>
          <a:xfrm>
            <a:off x="750000" y="3021335"/>
            <a:ext cx="85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2200"/>
          </a:p>
        </p:txBody>
      </p:sp>
      <p:sp>
        <p:nvSpPr>
          <p:cNvPr id="14" name="Rounded Rectangle 14"/>
          <p:cNvSpPr/>
          <p:nvPr/>
        </p:nvSpPr>
        <p:spPr>
          <a:xfrm>
            <a:off x="1750000" y="3021335"/>
            <a:ext cx="85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2750000" y="3021335"/>
            <a:ext cx="85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endParaRPr sz="2200"/>
          </a:p>
        </p:txBody>
      </p:sp>
      <p:sp>
        <p:nvSpPr>
          <p:cNvPr id="16" name="Rounded Rectangle 16"/>
          <p:cNvSpPr/>
          <p:nvPr/>
        </p:nvSpPr>
        <p:spPr>
          <a:xfrm>
            <a:off x="3750000" y="3021335"/>
            <a:ext cx="85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endParaRPr sz="2200"/>
          </a:p>
        </p:txBody>
      </p:sp>
      <p:sp>
        <p:nvSpPr>
          <p:cNvPr id="17" name="Rounded Rectangle 17"/>
          <p:cNvSpPr/>
          <p:nvPr/>
        </p:nvSpPr>
        <p:spPr>
          <a:xfrm>
            <a:off x="4750000" y="3021335"/>
            <a:ext cx="85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endParaRPr sz="2200"/>
          </a:p>
        </p:txBody>
      </p:sp>
      <p:cxnSp>
        <p:nvCxnSpPr>
          <p:cNvPr id="18" name="Connector 18"/>
          <p:cNvCxnSpPr/>
          <p:nvPr/>
        </p:nvCxnSpPr>
        <p:spPr>
          <a:xfrm>
            <a:off x="750000" y="4221335"/>
            <a:ext cx="48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TextBox 19"/>
          <p:cNvSpPr txBox="1"/>
          <p:nvPr/>
        </p:nvSpPr>
        <p:spPr>
          <a:xfrm>
            <a:off x="608400" y="4421335"/>
            <a:ext cx="52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перебор по очереди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20" name="Rounded Rectangle 20"/>
          <p:cNvSpPr/>
          <p:nvPr/>
        </p:nvSpPr>
        <p:spPr>
          <a:xfrm>
            <a:off x="6300000" y="3021335"/>
            <a:ext cx="14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ключ</a:t>
            </a:r>
            <a:endParaRPr sz="1800"/>
          </a:p>
        </p:txBody>
      </p:sp>
      <p:sp>
        <p:nvSpPr>
          <p:cNvPr id="21" name="Rounded Rectangle 21"/>
          <p:cNvSpPr/>
          <p:nvPr/>
        </p:nvSpPr>
        <p:spPr>
          <a:xfrm>
            <a:off x="8250000" y="3021335"/>
            <a:ext cx="14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хеш</a:t>
            </a:r>
            <a:endParaRPr sz="1800"/>
          </a:p>
        </p:txBody>
      </p:sp>
      <p:cxnSp>
        <p:nvCxnSpPr>
          <p:cNvPr id="22" name="Connector 22"/>
          <p:cNvCxnSpPr/>
          <p:nvPr/>
        </p:nvCxnSpPr>
        <p:spPr>
          <a:xfrm>
            <a:off x="7700000" y="3446335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Rounded Rectangle 23"/>
          <p:cNvSpPr/>
          <p:nvPr/>
        </p:nvSpPr>
        <p:spPr>
          <a:xfrm>
            <a:off x="10200000" y="3021335"/>
            <a:ext cx="1400000" cy="85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>
                <a:solidFill>
                  <a:schemeClr val="accent1"/>
                </a:solidFill>
              </a:rPr>
              <a:t>ячейка</a:t>
            </a:r>
            <a:endParaRPr sz="1800"/>
          </a:p>
        </p:txBody>
      </p:sp>
      <p:cxnSp>
        <p:nvCxnSpPr>
          <p:cNvPr id="24" name="Connector 24"/>
          <p:cNvCxnSpPr/>
          <p:nvPr/>
        </p:nvCxnSpPr>
        <p:spPr>
          <a:xfrm>
            <a:off x="9650000" y="3446335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TextBox 25"/>
          <p:cNvSpPr txBox="1"/>
          <p:nvPr/>
        </p:nvSpPr>
        <p:spPr>
          <a:xfrm>
            <a:off x="6300000" y="4421335"/>
            <a:ext cx="53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сразу к нужному месту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 animBg="1"/>
      <p:bldP spid="21" grpId="0" animBg="1"/>
      <p:bldP spid="23" grpId="0" animBg="1"/>
      <p:bldP spid="25" grpId="0"/>
      <p:bldP spid="12" grpId="1"/>
      <p:bldP spid="20" grpId="1" animBg="1"/>
      <p:bldP spid="21" grpId="1" animBg="1"/>
      <p:bldP spid="23" grpId="1" animBg="1"/>
      <p:bldP spid="25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Время поиска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783080"/>
            <a:ext cx="1120330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from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timeit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import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timeit</a:t>
            </a:r>
            <a:endParaRPr sz="1600"/>
          </a:p>
          <a:p>
            <a:pPr algn="l"/>
            <a:endParaRPr sz="1600"/>
          </a:p>
          <a:p>
            <a:pPr algn="l"/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search_repeats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</a:t>
            </a:r>
            <a:r>
              <a:rPr sz="1600">
                <a:latin typeface="Consolas" panose="020B0609020204030204"/>
                <a:cs typeface="Consolas" panose="020B0609020204030204"/>
              </a:rPr>
              <a:t> 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сколько раз повторяем поиск</a:t>
            </a:r>
            <a:endParaRPr sz="1600"/>
          </a:p>
          <a:p>
            <a:pPr algn="l"/>
            <a:endParaRPr sz="1600"/>
          </a:p>
          <a:p>
            <a:pPr algn="l"/>
            <a:r>
              <a:rPr sz="16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items_count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1_000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100_000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1_000_000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items_count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numbers_dict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dict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fromkeys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numbers_list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missing_number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16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endParaRPr sz="1600"/>
          </a:p>
          <a:p>
            <a:pPr algn="l"/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list_time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timeit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"missing_number in numbers_list"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search_repeats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dict_time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timeit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"missing_number in numbers_dict"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globals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1600">
                <a:latin typeface="Consolas" panose="020B0609020204030204"/>
                <a:cs typeface="Consolas" panose="020B0609020204030204"/>
              </a:rPr>
              <a:t> 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16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search_repeats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  <a:p>
            <a:pPr algn="l"/>
            <a:endParaRPr sz="1600"/>
          </a:p>
          <a:p>
            <a:pPr algn="l"/>
            <a:r>
              <a:rPr sz="1600">
                <a:latin typeface="Consolas" panose="020B0609020204030204"/>
                <a:cs typeface="Consolas" panose="020B0609020204030204"/>
              </a:rPr>
              <a:t>    </a:t>
            </a:r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f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items_count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&gt;9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items | list: 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list_time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.6f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s | dict: 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dict_time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.6f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 s</a:t>
            </a:r>
            <a:r>
              <a:rPr sz="16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445"/>
              <a:t>Вывод</a:t>
            </a:r>
            <a:endParaRPr lang="ru-RU" alt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700405" y="2572385"/>
            <a:ext cx="10358120" cy="181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  1000 items | list: 0.000711 s | dict: 0.000003 s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 100000 items | list: 0.074992 s | dict: 0.000005 s</a:t>
            </a:r>
            <a:endParaRPr sz="2800"/>
          </a:p>
          <a:p>
            <a:pPr algn="l"/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1000000 items | list: 0.785587 s | dict: 0.000005 s</a:t>
            </a:r>
            <a:endParaRPr sz="2800"/>
          </a:p>
          <a:p>
            <a:pPr algn="l"/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Множество: обзор</a:t>
            </a:r>
            <a:endParaRPr sz="6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Уникальные элементы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608400" y="2300000"/>
            <a:ext cx="3289733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4448133" y="2300000"/>
            <a:ext cx="3289733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/>
          </a:p>
        </p:txBody>
      </p:sp>
      <p:cxnSp>
        <p:nvCxnSpPr>
          <p:cNvPr id="13" name="Connector 13"/>
          <p:cNvCxnSpPr/>
          <p:nvPr/>
        </p:nvCxnSpPr>
        <p:spPr>
          <a:xfrm>
            <a:off x="3898133" y="2950000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8287866" y="2300000"/>
            <a:ext cx="3289733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</p:txBody>
      </p:sp>
      <p:cxnSp>
        <p:nvCxnSpPr>
          <p:cNvPr id="15" name="Connector 15"/>
          <p:cNvCxnSpPr/>
          <p:nvPr/>
        </p:nvCxnSpPr>
        <p:spPr>
          <a:xfrm>
            <a:off x="7737866" y="2950000"/>
            <a:ext cx="55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16"/>
          <p:cNvSpPr txBox="1"/>
          <p:nvPr/>
        </p:nvSpPr>
        <p:spPr>
          <a:xfrm>
            <a:off x="608400" y="4000000"/>
            <a:ext cx="109692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chemeClr val="accent1"/>
                </a:solidFill>
              </a:rPr>
              <a:t>дубликаты исчезают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Удаление дубликатов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8400415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unique_numbers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list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unique_numbers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Уникальные элементы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1076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endParaRPr sz="2800"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{1, 2, 3} - дубликаты исчезли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Характеристики множества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гетерогенное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44805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ограниченное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8138160" y="1920240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неупорядоченное</a:t>
            </a:r>
            <a:endParaRPr sz="2000"/>
          </a:p>
        </p:txBody>
      </p:sp>
      <p:sp>
        <p:nvSpPr>
          <p:cNvPr id="14" name="Rounded Rectangle 14"/>
          <p:cNvSpPr/>
          <p:nvPr/>
        </p:nvSpPr>
        <p:spPr>
          <a:xfrm>
            <a:off x="26517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изменяемое</a:t>
            </a:r>
            <a:endParaRPr sz="2000"/>
          </a:p>
        </p:txBody>
      </p:sp>
      <p:sp>
        <p:nvSpPr>
          <p:cNvPr id="15" name="Rounded Rectangle 15"/>
          <p:cNvSpPr/>
          <p:nvPr/>
        </p:nvSpPr>
        <p:spPr>
          <a:xfrm>
            <a:off x="6309360" y="3749039"/>
            <a:ext cx="32004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итерируемое</a:t>
            </a:r>
            <a:endParaRPr sz="20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Гетерогенность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0885805" cy="3046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mixed_set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</a:t>
            </a:r>
            <a:r>
              <a:rPr lang="ru-RU"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3.14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True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None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mixed_set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6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Хешируемые элементы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949450"/>
            <a:ext cx="11203305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valid_set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хешируемый</a:t>
            </a:r>
            <a:r>
              <a:rPr lang="ru-RU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кортеж, можно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invalid_set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Ограниченность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87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0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Нет индексов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087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'set' object is not subscriptable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Изменяемость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829627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"python"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"code"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"study"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3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id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tags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identity_before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Итерируемость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775" y="1600200"/>
            <a:ext cx="774509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green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red</a:t>
            </a:r>
            <a:endParaRPr sz="3200">
              <a:solidFill>
                <a:schemeClr val="accent4"/>
              </a:solidFill>
            </a:endParaRPr>
          </a:p>
          <a:p>
            <a:pPr algn="l"/>
            <a:r>
              <a:rPr lang="en-US"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blue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  <a:sym typeface="+mn-ea"/>
            </a:endParaRPr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dict и set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608400" y="1600000"/>
            <a:ext cx="5176800" cy="8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dict</a:t>
            </a:r>
            <a:endParaRPr sz="2600"/>
          </a:p>
        </p:txBody>
      </p:sp>
      <p:sp>
        <p:nvSpPr>
          <p:cNvPr id="12" name="Rounded Rectangle 12"/>
          <p:cNvSpPr/>
          <p:nvPr/>
        </p:nvSpPr>
        <p:spPr>
          <a:xfrm>
            <a:off x="6411600" y="1600000"/>
            <a:ext cx="5176800" cy="800000"/>
          </a:xfrm>
          <a:prstGeom prst="roundRect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600">
                <a:solidFill>
                  <a:schemeClr val="bg1"/>
                </a:solidFill>
                <a:latin typeface="Consolas" panose="020B0609020204030204"/>
                <a:cs typeface="Consolas" panose="020B0609020204030204"/>
              </a:rPr>
              <a:t>set</a:t>
            </a:r>
            <a:endParaRPr sz="2600"/>
          </a:p>
        </p:txBody>
      </p:sp>
      <p:sp>
        <p:nvSpPr>
          <p:cNvPr id="13" name="Rounded Rectangle 13"/>
          <p:cNvSpPr/>
          <p:nvPr/>
        </p:nvSpPr>
        <p:spPr>
          <a:xfrm>
            <a:off x="608400" y="270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пары ключ → значение</a:t>
            </a:r>
            <a:endParaRPr sz="2000"/>
          </a:p>
        </p:txBody>
      </p:sp>
      <p:sp>
        <p:nvSpPr>
          <p:cNvPr id="14" name="Rounded Rectangle 14"/>
          <p:cNvSpPr/>
          <p:nvPr/>
        </p:nvSpPr>
        <p:spPr>
          <a:xfrm>
            <a:off x="6411600" y="270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только элементы</a:t>
            </a:r>
            <a:endParaRPr sz="2000"/>
          </a:p>
        </p:txBody>
      </p:sp>
      <p:sp>
        <p:nvSpPr>
          <p:cNvPr id="15" name="Rounded Rectangle 15"/>
          <p:cNvSpPr/>
          <p:nvPr/>
        </p:nvSpPr>
        <p:spPr>
          <a:xfrm>
            <a:off x="608400" y="385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порядок вставки сохраняется</a:t>
            </a:r>
            <a:endParaRPr sz="2000"/>
          </a:p>
        </p:txBody>
      </p:sp>
      <p:sp>
        <p:nvSpPr>
          <p:cNvPr id="16" name="Rounded Rectangle 16"/>
          <p:cNvSpPr/>
          <p:nvPr/>
        </p:nvSpPr>
        <p:spPr>
          <a:xfrm>
            <a:off x="6411600" y="385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порядок не определен</a:t>
            </a:r>
            <a:endParaRPr sz="2000"/>
          </a:p>
        </p:txBody>
      </p:sp>
      <p:sp>
        <p:nvSpPr>
          <p:cNvPr id="17" name="Rounded Rectangle 17"/>
          <p:cNvSpPr/>
          <p:nvPr/>
        </p:nvSpPr>
        <p:spPr>
          <a:xfrm>
            <a:off x="608400" y="500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пустой: {}</a:t>
            </a:r>
            <a:endParaRPr sz="2000"/>
          </a:p>
        </p:txBody>
      </p:sp>
      <p:sp>
        <p:nvSpPr>
          <p:cNvPr id="18" name="Rounded Rectangle 18"/>
          <p:cNvSpPr/>
          <p:nvPr/>
        </p:nvSpPr>
        <p:spPr>
          <a:xfrm>
            <a:off x="6411600" y="5000000"/>
            <a:ext cx="5176800" cy="9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пустое: set()</a:t>
            </a:r>
            <a:endParaRPr sz="20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Где применяются множества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1196000" y="1920240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удаление дубликатов</a:t>
            </a:r>
            <a:endParaRPr sz="2000"/>
          </a:p>
        </p:txBody>
      </p:sp>
      <p:sp>
        <p:nvSpPr>
          <p:cNvPr id="12" name="Rounded Rectangle 12"/>
          <p:cNvSpPr/>
          <p:nvPr/>
        </p:nvSpPr>
        <p:spPr>
          <a:xfrm>
            <a:off x="6396000" y="1920240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проверка принадлежности</a:t>
            </a:r>
            <a:endParaRPr sz="2000"/>
          </a:p>
        </p:txBody>
      </p:sp>
      <p:sp>
        <p:nvSpPr>
          <p:cNvPr id="13" name="Rounded Rectangle 13"/>
          <p:cNvSpPr/>
          <p:nvPr/>
        </p:nvSpPr>
        <p:spPr>
          <a:xfrm>
            <a:off x="1196000" y="3749039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число уникальных значений</a:t>
            </a:r>
            <a:endParaRPr sz="2000"/>
          </a:p>
        </p:txBody>
      </p:sp>
      <p:sp>
        <p:nvSpPr>
          <p:cNvPr id="14" name="Rounded Rectangle 14"/>
          <p:cNvSpPr/>
          <p:nvPr/>
        </p:nvSpPr>
        <p:spPr>
          <a:xfrm>
            <a:off x="6396000" y="3749039"/>
            <a:ext cx="4600000" cy="128016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объединение, пересечение, разность</a:t>
            </a:r>
            <a:endParaRPr sz="20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6000"/>
              <a:t>Создание множеств</a:t>
            </a:r>
            <a:endParaRPr sz="60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Способы создания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822960" y="2400000"/>
            <a:ext cx="32004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литерал</a:t>
            </a:r>
            <a:endParaRPr sz="1800"/>
          </a:p>
        </p:txBody>
      </p:sp>
      <p:sp>
        <p:nvSpPr>
          <p:cNvPr id="12" name="Rounded Rectangle 12"/>
          <p:cNvSpPr/>
          <p:nvPr/>
        </p:nvSpPr>
        <p:spPr>
          <a:xfrm>
            <a:off x="4480560" y="2400000"/>
            <a:ext cx="32004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iterable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конструктор</a:t>
            </a:r>
            <a:endParaRPr sz="1800"/>
          </a:p>
        </p:txBody>
      </p:sp>
      <p:sp>
        <p:nvSpPr>
          <p:cNvPr id="13" name="Rounded Rectangle 13"/>
          <p:cNvSpPr/>
          <p:nvPr/>
        </p:nvSpPr>
        <p:spPr>
          <a:xfrm>
            <a:off x="8138160" y="2400000"/>
            <a:ext cx="32004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item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200">
                <a:latin typeface="Consolas" panose="020B0609020204030204"/>
                <a:cs typeface="Consolas" panose="020B0609020204030204"/>
              </a:rPr>
              <a:t> 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...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200"/>
          </a:p>
          <a:p>
            <a:pPr algn="ctr"/>
            <a:r>
              <a:rPr sz="1800">
                <a:solidFill>
                  <a:schemeClr val="accent1"/>
                </a:solidFill>
              </a:rPr>
              <a:t>включение</a:t>
            </a:r>
            <a:endParaRPr sz="1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Литералы множеств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primes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primes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{2, 3, 5, 7}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{'a', 'b', 'c'}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Пустое множество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1500000" y="2200000"/>
            <a:ext cx="34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</p:txBody>
      </p:sp>
      <p:sp>
        <p:nvSpPr>
          <p:cNvPr id="12" name="Rounded Rectangle 12"/>
          <p:cNvSpPr/>
          <p:nvPr/>
        </p:nvSpPr>
        <p:spPr>
          <a:xfrm>
            <a:off x="6500000" y="2200000"/>
            <a:ext cx="44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</a:rPr>
              <a:t>словарь (dict)</a:t>
            </a:r>
            <a:endParaRPr sz="2400"/>
          </a:p>
        </p:txBody>
      </p:sp>
      <p:cxnSp>
        <p:nvCxnSpPr>
          <p:cNvPr id="13" name="Connector 13"/>
          <p:cNvCxnSpPr/>
          <p:nvPr/>
        </p:nvCxnSpPr>
        <p:spPr>
          <a:xfrm>
            <a:off x="4900000" y="2800000"/>
            <a:ext cx="16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1500000" y="3900000"/>
            <a:ext cx="34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</p:txBody>
      </p:sp>
      <p:sp>
        <p:nvSpPr>
          <p:cNvPr id="15" name="Rounded Rectangle 15"/>
          <p:cNvSpPr/>
          <p:nvPr/>
        </p:nvSpPr>
        <p:spPr>
          <a:xfrm>
            <a:off x="6500000" y="3900000"/>
            <a:ext cx="4400000" cy="12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</a:rPr>
              <a:t>множество (set)</a:t>
            </a:r>
            <a:endParaRPr sz="2400"/>
          </a:p>
        </p:txBody>
      </p:sp>
      <p:cxnSp>
        <p:nvCxnSpPr>
          <p:cNvPr id="16" name="Connector 16"/>
          <p:cNvCxnSpPr/>
          <p:nvPr/>
        </p:nvCxnSpPr>
        <p:spPr>
          <a:xfrm>
            <a:off x="4900000" y="4500000"/>
            <a:ext cx="16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Пустое множество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8187690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empty_set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empty_dict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'dict'&gt;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type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&lt;class 'set'&gt;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empty_set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set()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Объект set()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358265"/>
            <a:ext cx="11203305" cy="4831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numbers_set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numbers_set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{1, 2, 3}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letters_set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  <a:sym typeface="+mn-ea"/>
              </a:rPr>
              <a:t>letters_set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{'h', 'e', 'l', 'o'}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keys_set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({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keys_set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{'a', 'b'}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Ошибки set()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203" y="174625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set expected at most 1 argument, got 3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'int' object is not iterable</a:t>
            </a:r>
            <a:endParaRPr sz="28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  <a:sym typeface="+mn-ea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([[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[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28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4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]])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TypeError: unhashable type: 'list'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set() </a:t>
            </a:r>
            <a:r>
              <a:rPr lang="en-US" altLang="ru-RU" sz="4445"/>
              <a:t>vs</a:t>
            </a:r>
            <a:r>
              <a:rPr lang="ru-RU" sz="4445"/>
              <a:t> литерал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{'hello'}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"hello"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{'h', 'e', 'l', 'o'}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Включение множества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520200"/>
            <a:ext cx="6916643" cy="75000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выражение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</p:txBody>
      </p:sp>
      <p:sp>
        <p:nvSpPr>
          <p:cNvPr id="12" name="TextBox 12"/>
          <p:cNvSpPr txBox="1"/>
          <p:nvPr/>
        </p:nvSpPr>
        <p:spPr>
          <a:xfrm>
            <a:off x="699770" y="2468880"/>
            <a:ext cx="10794365" cy="181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**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range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-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squares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{0, 1, 4, 9}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Включение с условием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700000" y="1520200"/>
            <a:ext cx="8760012" cy="750000"/>
          </a:xfrm>
          <a:prstGeom prst="roundRect">
            <a:avLst/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выражение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переменная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источник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условие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</p:txBody>
      </p:sp>
      <p:sp>
        <p:nvSpPr>
          <p:cNvPr id="12" name="TextBox 12"/>
          <p:cNvSpPr txBox="1"/>
          <p:nvPr/>
        </p:nvSpPr>
        <p:spPr>
          <a:xfrm>
            <a:off x="699770" y="2468880"/>
            <a:ext cx="11111865" cy="3415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"avocado"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"banana"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"apple"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first_letters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0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long_words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for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words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if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word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&gt;</a:t>
            </a:r>
            <a:r>
              <a:rPr sz="2400">
                <a:latin typeface="Consolas" panose="020B0609020204030204"/>
                <a:cs typeface="Consolas" panose="020B0609020204030204"/>
              </a:rPr>
              <a:t> </a:t>
            </a:r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400"/>
          </a:p>
          <a:p>
            <a:pPr algn="l"/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first_letters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{'a', 'b'}</a:t>
            </a:r>
            <a:endParaRPr sz="2400"/>
          </a:p>
          <a:p>
            <a:pPr algn="l"/>
            <a:r>
              <a:rPr sz="24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4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long_words</a:t>
            </a:r>
            <a:r>
              <a:rPr sz="24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4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4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{'avocado', 'banana'}</a:t>
            </a:r>
            <a:endParaRPr sz="24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020" y="2101215"/>
            <a:ext cx="10633075" cy="1018540"/>
          </a:xfrm>
        </p:spPr>
        <p:txBody>
          <a:bodyPr>
            <a:noAutofit/>
          </a:bodyPr>
          <a:lstStyle/>
          <a:p>
            <a:r>
              <a:rPr lang="ru-RU" sz="5800"/>
              <a:t>Методы множества</a:t>
            </a:r>
            <a:endParaRPr sz="5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add()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9213215" cy="4523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['blue', 'green', 'red']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([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"black"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TypeError: unhashable type: 'list'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update()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4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]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5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6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7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8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{1, 2, 3, 4, 5, 6, 7, 8}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add и update</a:t>
            </a:r>
            <a:endParaRPr lang="ru-RU"/>
          </a:p>
        </p:txBody>
      </p:sp>
      <p:sp>
        <p:nvSpPr>
          <p:cNvPr id="11" name="Rounded Rectangle 11"/>
          <p:cNvSpPr/>
          <p:nvPr/>
        </p:nvSpPr>
        <p:spPr>
          <a:xfrm>
            <a:off x="1000000" y="2200000"/>
            <a:ext cx="51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12" name="Rounded Rectangle 12"/>
          <p:cNvSpPr/>
          <p:nvPr/>
        </p:nvSpPr>
        <p:spPr>
          <a:xfrm>
            <a:off x="6500000" y="2200000"/>
            <a:ext cx="46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один элемент</a:t>
            </a:r>
            <a:endParaRPr sz="2000"/>
          </a:p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endParaRPr sz="2000"/>
          </a:p>
        </p:txBody>
      </p:sp>
      <p:cxnSp>
        <p:nvCxnSpPr>
          <p:cNvPr id="13" name="Connector 13"/>
          <p:cNvCxnSpPr/>
          <p:nvPr/>
        </p:nvCxnSpPr>
        <p:spPr>
          <a:xfrm>
            <a:off x="6100000" y="2850000"/>
            <a:ext cx="4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Rounded Rectangle 14"/>
          <p:cNvSpPr/>
          <p:nvPr/>
        </p:nvSpPr>
        <p:spPr>
          <a:xfrm>
            <a:off x="1000000" y="3900000"/>
            <a:ext cx="51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2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2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2200"/>
          </a:p>
        </p:txBody>
      </p:sp>
      <p:sp>
        <p:nvSpPr>
          <p:cNvPr id="15" name="Rounded Rectangle 15"/>
          <p:cNvSpPr/>
          <p:nvPr/>
        </p:nvSpPr>
        <p:spPr>
          <a:xfrm>
            <a:off x="6500000" y="3900000"/>
            <a:ext cx="4600000" cy="130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>
                <a:solidFill>
                  <a:schemeClr val="accent1"/>
                </a:solidFill>
              </a:rPr>
              <a:t>три элемента</a:t>
            </a:r>
            <a:endParaRPr sz="2000"/>
          </a:p>
          <a:p>
            <a:pPr algn="ctr"/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"b"</a:t>
            </a:r>
            <a:r>
              <a:rPr sz="20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000">
                <a:latin typeface="Consolas" panose="020B0609020204030204"/>
                <a:cs typeface="Consolas" panose="020B0609020204030204"/>
              </a:rPr>
              <a:t> </a:t>
            </a:r>
            <a:r>
              <a:rPr sz="20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"c"</a:t>
            </a:r>
            <a:endParaRPr sz="2000"/>
          </a:p>
        </p:txBody>
      </p:sp>
      <p:cxnSp>
        <p:nvCxnSpPr>
          <p:cNvPr id="16" name="Connector 16"/>
          <p:cNvCxnSpPr/>
          <p:nvPr/>
        </p:nvCxnSpPr>
        <p:spPr>
          <a:xfrm>
            <a:off x="6100000" y="4550000"/>
            <a:ext cx="400000" cy="0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add() и update()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{'abc'}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"abc"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letters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['a', 'abc', 'b', 'c']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remove()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['blue', 'red']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'yellow'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discard()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538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discard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discard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sorted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['blue', 'red']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pop()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08330" y="1600200"/>
            <a:ext cx="11203305" cy="4399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removed_number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removed_number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20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2800">
                <a:latin typeface="Consolas" panose="020B0609020204030204"/>
                <a:cs typeface="Consolas" panose="020B0609020204030204"/>
              </a:rPr>
              <a:t> </a:t>
            </a:r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30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2800"/>
          </a:p>
          <a:p>
            <a:pPr algn="l"/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len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28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))</a:t>
            </a:r>
            <a:endParaRPr sz="28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2</a:t>
            </a:r>
            <a:endParaRPr sz="2800"/>
          </a:p>
          <a:p>
            <a:pPr algn="l"/>
            <a:endParaRPr sz="2800"/>
          </a:p>
          <a:p>
            <a:pPr algn="l"/>
            <a:r>
              <a:rPr sz="2800">
                <a:solidFill>
                  <a:schemeClr val="accent2"/>
                </a:solidFill>
                <a:latin typeface="Consolas" panose="020B0609020204030204"/>
                <a:cs typeface="Consolas" panose="020B0609020204030204"/>
              </a:rPr>
              <a:t>set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r>
              <a:rPr sz="28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28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28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()</a:t>
            </a:r>
            <a:endParaRPr sz="2800"/>
          </a:p>
          <a:p>
            <a:pPr algn="l"/>
            <a:r>
              <a:rPr sz="28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KeyError: 'pop from an empty set'</a:t>
            </a:r>
            <a:endParaRPr sz="28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45"/>
              <a:t>Практический пример</a:t>
            </a:r>
            <a:endParaRPr lang="ru-RU" sz="4445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3063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"write"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"test"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"deploy"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6"/>
                </a:solidFill>
                <a:latin typeface="Consolas" panose="020B0609020204030204"/>
                <a:cs typeface="Consolas" panose="020B0609020204030204"/>
              </a:rPr>
              <a:t>while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:</a:t>
            </a:r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latin typeface="Consolas" panose="020B0609020204030204"/>
                <a:cs typeface="Consolas" panose="020B0609020204030204"/>
              </a:rPr>
              <a:t>    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"Processing:"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task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Метод clear()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25533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1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2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.</a:t>
            </a:r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numbers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3200">
              <a:solidFill>
                <a:schemeClr val="accent1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set()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Сводка методов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700000" y="1475610"/>
            <a:ext cx="275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метод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600000" y="1475610"/>
            <a:ext cx="43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что делает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050000" y="1475610"/>
            <a:ext cx="350000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>
                <a:solidFill>
                  <a:schemeClr val="accent1"/>
                </a:solidFill>
              </a:rPr>
              <a:t>если элемента нет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4" name="Rounded Rectangle 14"/>
          <p:cNvSpPr/>
          <p:nvPr/>
        </p:nvSpPr>
        <p:spPr>
          <a:xfrm>
            <a:off x="700000" y="19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add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x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15" name="Rounded Rectangle 15"/>
          <p:cNvSpPr/>
          <p:nvPr/>
        </p:nvSpPr>
        <p:spPr>
          <a:xfrm>
            <a:off x="3600000" y="19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добавляет элемент</a:t>
            </a:r>
            <a:endParaRPr sz="1600"/>
          </a:p>
        </p:txBody>
      </p:sp>
      <p:sp>
        <p:nvSpPr>
          <p:cNvPr id="16" name="Rounded Rectangle 16"/>
          <p:cNvSpPr/>
          <p:nvPr/>
        </p:nvSpPr>
        <p:spPr>
          <a:xfrm>
            <a:off x="8050000" y="19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ru-RU" sz="1600">
                <a:solidFill>
                  <a:schemeClr val="accent1"/>
                </a:solidFill>
              </a:rPr>
              <a:t>добавляет</a:t>
            </a:r>
            <a:endParaRPr lang="ru-RU" sz="1600">
              <a:solidFill>
                <a:schemeClr val="accent1"/>
              </a:solidFill>
            </a:endParaRPr>
          </a:p>
        </p:txBody>
      </p:sp>
      <p:sp>
        <p:nvSpPr>
          <p:cNvPr id="17" name="Rounded Rectangle 17"/>
          <p:cNvSpPr/>
          <p:nvPr/>
        </p:nvSpPr>
        <p:spPr>
          <a:xfrm>
            <a:off x="700000" y="26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update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iterable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18" name="Rounded Rectangle 18"/>
          <p:cNvSpPr/>
          <p:nvPr/>
        </p:nvSpPr>
        <p:spPr>
          <a:xfrm>
            <a:off x="3600000" y="26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добавляет все элементы</a:t>
            </a:r>
            <a:endParaRPr sz="1600"/>
          </a:p>
        </p:txBody>
      </p:sp>
      <p:sp>
        <p:nvSpPr>
          <p:cNvPr id="19" name="Rounded Rectangle 19"/>
          <p:cNvSpPr/>
          <p:nvPr/>
        </p:nvSpPr>
        <p:spPr>
          <a:xfrm>
            <a:off x="8050000" y="26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lang="ru-RU" sz="1600">
                <a:solidFill>
                  <a:schemeClr val="accent1"/>
                </a:solidFill>
              </a:rPr>
              <a:t>добавляет</a:t>
            </a:r>
            <a:endParaRPr lang="ru-RU" sz="1600">
              <a:solidFill>
                <a:schemeClr val="accent1"/>
              </a:solidFill>
            </a:endParaRPr>
          </a:p>
        </p:txBody>
      </p:sp>
      <p:sp>
        <p:nvSpPr>
          <p:cNvPr id="20" name="Rounded Rectangle 20"/>
          <p:cNvSpPr/>
          <p:nvPr/>
        </p:nvSpPr>
        <p:spPr>
          <a:xfrm>
            <a:off x="700000" y="33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remove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x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21" name="Rounded Rectangle 21"/>
          <p:cNvSpPr/>
          <p:nvPr/>
        </p:nvSpPr>
        <p:spPr>
          <a:xfrm>
            <a:off x="3600000" y="33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удаляет элемент</a:t>
            </a:r>
            <a:endParaRPr sz="1600"/>
          </a:p>
        </p:txBody>
      </p:sp>
      <p:sp>
        <p:nvSpPr>
          <p:cNvPr id="22" name="Rounded Rectangle 22"/>
          <p:cNvSpPr/>
          <p:nvPr/>
        </p:nvSpPr>
        <p:spPr>
          <a:xfrm>
            <a:off x="8050000" y="33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KeyError</a:t>
            </a:r>
            <a:endParaRPr sz="1600"/>
          </a:p>
        </p:txBody>
      </p:sp>
      <p:sp>
        <p:nvSpPr>
          <p:cNvPr id="23" name="Rounded Rectangle 23"/>
          <p:cNvSpPr/>
          <p:nvPr/>
        </p:nvSpPr>
        <p:spPr>
          <a:xfrm>
            <a:off x="700000" y="40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discard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x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24" name="Rounded Rectangle 24"/>
          <p:cNvSpPr/>
          <p:nvPr/>
        </p:nvSpPr>
        <p:spPr>
          <a:xfrm>
            <a:off x="3600000" y="40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удаляет элемент</a:t>
            </a:r>
            <a:endParaRPr sz="1600"/>
          </a:p>
        </p:txBody>
      </p:sp>
      <p:sp>
        <p:nvSpPr>
          <p:cNvPr id="25" name="Rounded Rectangle 25"/>
          <p:cNvSpPr/>
          <p:nvPr/>
        </p:nvSpPr>
        <p:spPr>
          <a:xfrm>
            <a:off x="8050000" y="40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  <a:sym typeface="+mn-ea"/>
              </a:rPr>
              <a:t>—</a:t>
            </a:r>
            <a:endParaRPr sz="1600"/>
          </a:p>
        </p:txBody>
      </p:sp>
      <p:sp>
        <p:nvSpPr>
          <p:cNvPr id="26" name="Rounded Rectangle 26"/>
          <p:cNvSpPr/>
          <p:nvPr/>
        </p:nvSpPr>
        <p:spPr>
          <a:xfrm>
            <a:off x="700000" y="47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pop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27" name="Rounded Rectangle 27"/>
          <p:cNvSpPr/>
          <p:nvPr/>
        </p:nvSpPr>
        <p:spPr>
          <a:xfrm>
            <a:off x="3600000" y="47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удаляет произвольный</a:t>
            </a:r>
            <a:endParaRPr sz="1600"/>
          </a:p>
        </p:txBody>
      </p:sp>
      <p:sp>
        <p:nvSpPr>
          <p:cNvPr id="28" name="Rounded Rectangle 28"/>
          <p:cNvSpPr/>
          <p:nvPr/>
        </p:nvSpPr>
        <p:spPr>
          <a:xfrm>
            <a:off x="8050000" y="47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KeyError (пусто</a:t>
            </a:r>
            <a:r>
              <a:rPr lang="ru-RU" sz="1600">
                <a:solidFill>
                  <a:schemeClr val="accent1"/>
                </a:solidFill>
              </a:rPr>
              <a:t>й </a:t>
            </a:r>
            <a:r>
              <a:rPr lang="en-US" sz="1600">
                <a:solidFill>
                  <a:schemeClr val="accent1"/>
                </a:solidFill>
              </a:rPr>
              <a:t>set</a:t>
            </a:r>
            <a:r>
              <a:rPr sz="1600">
                <a:solidFill>
                  <a:schemeClr val="accent1"/>
                </a:solidFill>
              </a:rPr>
              <a:t>)</a:t>
            </a:r>
            <a:endParaRPr sz="1600"/>
          </a:p>
        </p:txBody>
      </p:sp>
      <p:sp>
        <p:nvSpPr>
          <p:cNvPr id="29" name="Rounded Rectangle 29"/>
          <p:cNvSpPr/>
          <p:nvPr/>
        </p:nvSpPr>
        <p:spPr>
          <a:xfrm>
            <a:off x="700000" y="5450000"/>
            <a:ext cx="275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clear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16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endParaRPr sz="1600"/>
          </a:p>
        </p:txBody>
      </p:sp>
      <p:sp>
        <p:nvSpPr>
          <p:cNvPr id="30" name="Rounded Rectangle 30"/>
          <p:cNvSpPr/>
          <p:nvPr/>
        </p:nvSpPr>
        <p:spPr>
          <a:xfrm>
            <a:off x="3600000" y="5450000"/>
            <a:ext cx="43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удаляет все</a:t>
            </a:r>
            <a:endParaRPr sz="1600"/>
          </a:p>
        </p:txBody>
      </p:sp>
      <p:sp>
        <p:nvSpPr>
          <p:cNvPr id="31" name="Rounded Rectangle 31"/>
          <p:cNvSpPr/>
          <p:nvPr/>
        </p:nvSpPr>
        <p:spPr>
          <a:xfrm>
            <a:off x="8050000" y="5450000"/>
            <a:ext cx="3500000" cy="58000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chemeClr val="accent1"/>
                </a:solidFill>
              </a:rPr>
              <a:t>—</a:t>
            </a:r>
            <a:endParaRPr sz="16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Оператор in</a:t>
            </a:r>
            <a:endParaRPr lang="ru-RU"/>
          </a:p>
        </p:txBody>
      </p:sp>
      <p:sp>
        <p:nvSpPr>
          <p:cNvPr id="11" name="TextBox 11"/>
          <p:cNvSpPr txBox="1"/>
          <p:nvPr/>
        </p:nvSpPr>
        <p:spPr>
          <a:xfrm>
            <a:off x="612648" y="1600200"/>
            <a:ext cx="10881360" cy="4030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=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{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"green"</a:t>
            </a:r>
            <a:r>
              <a:rPr sz="3200">
                <a:solidFill>
                  <a:schemeClr val="tx1"/>
                </a:solidFill>
                <a:latin typeface="Consolas" panose="020B0609020204030204"/>
                <a:cs typeface="Consolas" panose="020B0609020204030204"/>
              </a:rPr>
              <a:t>,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"blue"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}</a:t>
            </a:r>
            <a:endParaRPr sz="3200"/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"red"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  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False</a:t>
            </a:r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(</a:t>
            </a:r>
            <a:r>
              <a:rPr sz="3200">
                <a:solidFill>
                  <a:schemeClr val="accent5"/>
                </a:solidFill>
                <a:latin typeface="Consolas" panose="020B0609020204030204"/>
                <a:cs typeface="Consolas" panose="020B0609020204030204"/>
              </a:rPr>
              <a:t>"yellow"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not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</a:rPr>
              <a:t> </a:t>
            </a:r>
            <a:r>
              <a:rPr sz="3200">
                <a:solidFill>
                  <a:srgbClr val="003860"/>
                </a:solidFill>
                <a:latin typeface="Consolas" panose="020B0609020204030204"/>
                <a:cs typeface="Consolas" panose="020B0609020204030204"/>
              </a:rPr>
              <a:t>colors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</a:rPr>
              <a:t>)</a:t>
            </a:r>
            <a:r>
              <a:rPr sz="3200">
                <a:latin typeface="Consolas" panose="020B0609020204030204"/>
                <a:cs typeface="Consolas" panose="020B0609020204030204"/>
              </a:rPr>
              <a:t> 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</a:rPr>
              <a:t># True</a:t>
            </a:r>
            <a:endParaRPr sz="3200">
              <a:solidFill>
                <a:schemeClr val="accent4"/>
              </a:solidFill>
              <a:latin typeface="Consolas" panose="020B0609020204030204"/>
              <a:cs typeface="Consolas" panose="020B0609020204030204"/>
            </a:endParaRPr>
          </a:p>
          <a:p>
            <a:pPr algn="l"/>
            <a:endParaRPr sz="3200"/>
          </a:p>
          <a:p>
            <a:pPr algn="l"/>
            <a:r>
              <a:rPr sz="3200">
                <a:solidFill>
                  <a:schemeClr val="accent3"/>
                </a:solidFill>
                <a:latin typeface="Consolas" panose="020B0609020204030204"/>
                <a:cs typeface="Consolas" panose="020B0609020204030204"/>
                <a:sym typeface="+mn-ea"/>
              </a:rPr>
              <a:t>print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([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]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in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 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{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1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2</a:t>
            </a:r>
            <a:r>
              <a:rPr sz="3200">
                <a:latin typeface="Consolas" panose="020B0609020204030204"/>
                <a:cs typeface="Consolas" panose="020B0609020204030204"/>
                <a:sym typeface="+mn-ea"/>
              </a:rPr>
              <a:t>, </a:t>
            </a:r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3</a:t>
            </a:r>
            <a:r>
              <a:rPr sz="3200">
                <a:solidFill>
                  <a:schemeClr val="accent1"/>
                </a:solidFill>
                <a:latin typeface="Consolas" panose="020B0609020204030204"/>
                <a:cs typeface="Consolas" panose="020B0609020204030204"/>
                <a:sym typeface="+mn-ea"/>
              </a:rPr>
              <a:t>})</a:t>
            </a:r>
            <a:endParaRPr sz="3200"/>
          </a:p>
          <a:p>
            <a:pPr algn="l"/>
            <a:r>
              <a:rPr sz="3200">
                <a:solidFill>
                  <a:schemeClr val="accent4"/>
                </a:solidFill>
                <a:latin typeface="Consolas" panose="020B0609020204030204"/>
                <a:cs typeface="Consolas" panose="020B0609020204030204"/>
                <a:sym typeface="+mn-ea"/>
              </a:rPr>
              <a:t># TypeError: unhashable type: 'list'</a:t>
            </a:r>
            <a:endParaRPr sz="3200"/>
          </a:p>
        </p:txBody>
      </p:sp>
      <p:sp>
        <p:nvSpPr>
          <p:cNvPr id="3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065" y="2772410"/>
            <a:ext cx="10389870" cy="1313180"/>
          </a:xfrm>
        </p:spPr>
        <p:txBody>
          <a:bodyPr>
            <a:normAutofit fontScale="90000"/>
          </a:bodyPr>
          <a:lstStyle/>
          <a:p>
            <a:r>
              <a:rPr lang="ru-RU"/>
              <a:t>Спасибо за внимание!</a:t>
            </a:r>
            <a:endParaRPr lang="ru-R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python-dep">
      <a:dk1>
        <a:srgbClr val="000000"/>
      </a:dk1>
      <a:lt1>
        <a:srgbClr val="FFFFFF"/>
      </a:lt1>
      <a:dk2>
        <a:srgbClr val="AFABAB"/>
      </a:dk2>
      <a:lt2>
        <a:srgbClr val="E7E6E6"/>
      </a:lt2>
      <a:accent1>
        <a:srgbClr val="0070C0"/>
      </a:accent1>
      <a:accent2>
        <a:srgbClr val="00B0F0"/>
      </a:accent2>
      <a:accent3>
        <a:srgbClr val="C09D29"/>
      </a:accent3>
      <a:accent4>
        <a:srgbClr val="7CB683"/>
      </a:accent4>
      <a:accent5>
        <a:srgbClr val="A05900"/>
      </a:accent5>
      <a:accent6>
        <a:srgbClr val="7030A0"/>
      </a:accent6>
      <a:hlink>
        <a:srgbClr val="0070C0"/>
      </a:hlink>
      <a:folHlink>
        <a:srgbClr val="7030A0"/>
      </a:folHlink>
    </a:clrScheme>
    <a:fontScheme name="python-department">
      <a:majorFont>
        <a:latin typeface="Arial Black"/>
        <a:ea typeface="Arial"/>
        <a:cs typeface=""/>
      </a:majorFont>
      <a:minorFont>
        <a:latin typeface="Arial Black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15364</Words>
  <Application>WPS Presentation</Application>
  <PresentationFormat>Широкоэкранный</PresentationFormat>
  <Paragraphs>1381</Paragraphs>
  <Slides>108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108</vt:i4>
      </vt:variant>
    </vt:vector>
  </HeadingPairs>
  <TitlesOfParts>
    <vt:vector size="122" baseType="lpstr">
      <vt:lpstr>Arial</vt:lpstr>
      <vt:lpstr>SimSun</vt:lpstr>
      <vt:lpstr>Wingdings</vt:lpstr>
      <vt:lpstr>Wingdings</vt:lpstr>
      <vt:lpstr>Arial Black</vt:lpstr>
      <vt:lpstr>Tahoma</vt:lpstr>
      <vt:lpstr>Arial</vt:lpstr>
      <vt:lpstr>Segoe UI</vt:lpstr>
      <vt:lpstr>Consolas</vt:lpstr>
      <vt:lpstr>Microsoft YaHei</vt:lpstr>
      <vt:lpstr>Arial Unicode MS</vt:lpstr>
      <vt:lpstr>Calibri</vt:lpstr>
      <vt:lpstr>Consolas</vt:lpstr>
      <vt:lpstr>WPS</vt:lpstr>
      <vt:lpstr>Словари и множества</vt:lpstr>
      <vt:lpstr>Словарь: обзор</vt:lpstr>
      <vt:lpstr>Ключ и значение</vt:lpstr>
      <vt:lpstr>Характеристики словаря</vt:lpstr>
      <vt:lpstr>Гетерогенность</vt:lpstr>
      <vt:lpstr>Ограниченность</vt:lpstr>
      <vt:lpstr>Упорядоченность</vt:lpstr>
      <vt:lpstr>Равенство словарей</vt:lpstr>
      <vt:lpstr>Изменяемость</vt:lpstr>
      <vt:lpstr>Итерируемость</vt:lpstr>
      <vt:lpstr>Где применяются словари</vt:lpstr>
      <vt:lpstr>Словари внутри Python</vt:lpstr>
      <vt:lpstr>Хешируемость</vt:lpstr>
      <vt:lpstr>Хеш-функция</vt:lpstr>
      <vt:lpstr>Хеш-таблица</vt:lpstr>
      <vt:lpstr>Функция hash()</vt:lpstr>
      <vt:lpstr>Хешируемые объекты</vt:lpstr>
      <vt:lpstr>Нехешируемые объекты</vt:lpstr>
      <vt:lpstr>Хеш кортежа</vt:lpstr>
      <vt:lpstr>Хешируемость</vt:lpstr>
      <vt:lpstr>Создание словарей</vt:lpstr>
      <vt:lpstr>Способы создания</vt:lpstr>
      <vt:lpstr>Словарные литералы</vt:lpstr>
      <vt:lpstr>Многострочный литерал</vt:lpstr>
      <vt:lpstr>Ключи хешируемые</vt:lpstr>
      <vt:lpstr>Повторяющиеся ключи</vt:lpstr>
      <vt:lpstr>Словарное включение</vt:lpstr>
      <vt:lpstr>Включение с условием</vt:lpstr>
      <vt:lpstr>dict() без аргументов</vt:lpstr>
      <vt:lpstr>dict(): другой словарь</vt:lpstr>
      <vt:lpstr>dict(): пары</vt:lpstr>
      <vt:lpstr>dict(): комбинация</vt:lpstr>
      <vt:lpstr>dict.fromkeys()</vt:lpstr>
      <vt:lpstr>fromkeys и список</vt:lpstr>
      <vt:lpstr>Отдельные списки</vt:lpstr>
      <vt:lpstr>fromkeys и список</vt:lpstr>
      <vt:lpstr>Итерирование</vt:lpstr>
      <vt:lpstr>Обход ключей</vt:lpstr>
      <vt:lpstr>keys, values, items</vt:lpstr>
      <vt:lpstr>keys(), values(), items()</vt:lpstr>
      <vt:lpstr>Обход значений</vt:lpstr>
      <vt:lpstr>Обход пар</vt:lpstr>
      <vt:lpstr>Живое представление</vt:lpstr>
      <vt:lpstr>Изменение при обходе</vt:lpstr>
      <vt:lpstr>Чтение элементов</vt:lpstr>
      <vt:lpstr>Квадратные скобки</vt:lpstr>
      <vt:lpstr>Ошибка KeyError</vt:lpstr>
      <vt:lpstr>Метод get()</vt:lpstr>
      <vt:lpstr>get(): подсчет</vt:lpstr>
      <vt:lpstr>Метод setdefault()</vt:lpstr>
      <vt:lpstr>setdefault(): группы</vt:lpstr>
      <vt:lpstr>Что выбрать</vt:lpstr>
      <vt:lpstr>Изменение словарей</vt:lpstr>
      <vt:lpstr>Квадратные скобки</vt:lpstr>
      <vt:lpstr>Метод update()</vt:lpstr>
      <vt:lpstr>update() возвращает None</vt:lpstr>
      <vt:lpstr>Оператор |</vt:lpstr>
      <vt:lpstr>Оператор |=</vt:lpstr>
      <vt:lpstr>update, | и |=</vt:lpstr>
      <vt:lpstr>Удаление элементов</vt:lpstr>
      <vt:lpstr>Оператор del</vt:lpstr>
      <vt:lpstr>Метод pop()</vt:lpstr>
      <vt:lpstr>popitem: с конца</vt:lpstr>
      <vt:lpstr>Метод popitem()</vt:lpstr>
      <vt:lpstr>popitem() в цикле</vt:lpstr>
      <vt:lpstr>Метод clear()</vt:lpstr>
      <vt:lpstr>Что выбрать</vt:lpstr>
      <vt:lpstr>Поиск в словаре</vt:lpstr>
      <vt:lpstr>Оператор in</vt:lpstr>
      <vt:lpstr>Список и словарь</vt:lpstr>
      <vt:lpstr>Время поиска</vt:lpstr>
      <vt:lpstr>Время поиска</vt:lpstr>
      <vt:lpstr>Множество: обзор</vt:lpstr>
      <vt:lpstr>Уникальные элементы</vt:lpstr>
      <vt:lpstr>Удаление дубликатов</vt:lpstr>
      <vt:lpstr>Уникальные элементы</vt:lpstr>
      <vt:lpstr>Характеристики множества</vt:lpstr>
      <vt:lpstr>Гетерогенность</vt:lpstr>
      <vt:lpstr>Хешируемые элементы</vt:lpstr>
      <vt:lpstr>Ограниченность</vt:lpstr>
      <vt:lpstr>Нет индексов</vt:lpstr>
      <vt:lpstr>Изменяемость</vt:lpstr>
      <vt:lpstr>Итерируемость</vt:lpstr>
      <vt:lpstr>dict и set</vt:lpstr>
      <vt:lpstr>Где применяются множества</vt:lpstr>
      <vt:lpstr>Создание множеств</vt:lpstr>
      <vt:lpstr>Способы создания</vt:lpstr>
      <vt:lpstr>Литералы множеств</vt:lpstr>
      <vt:lpstr>Пустое множество</vt:lpstr>
      <vt:lpstr>Пустое множество</vt:lpstr>
      <vt:lpstr>Функция set()</vt:lpstr>
      <vt:lpstr>Ошибки set()</vt:lpstr>
      <vt:lpstr>set() и литерал</vt:lpstr>
      <vt:lpstr>Включение множества</vt:lpstr>
      <vt:lpstr>Включение с условием</vt:lpstr>
      <vt:lpstr>Элементы множества</vt:lpstr>
      <vt:lpstr>Метод add()</vt:lpstr>
      <vt:lpstr>Метод update()</vt:lpstr>
      <vt:lpstr>add и update</vt:lpstr>
      <vt:lpstr>add() и update()</vt:lpstr>
      <vt:lpstr>Метод remove()</vt:lpstr>
      <vt:lpstr>Метод discard()</vt:lpstr>
      <vt:lpstr>Метод pop()</vt:lpstr>
      <vt:lpstr>pop() в цикле</vt:lpstr>
      <vt:lpstr>Метод clear()</vt:lpstr>
      <vt:lpstr>Сводка методов</vt:lpstr>
      <vt:lpstr>Оператор in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Пустая презентация</dc:title>
  <dc:creator>Michail</dc:creator>
  <cp:lastModifiedBy>Michail</cp:lastModifiedBy>
  <cp:revision>1312</cp:revision>
  <dcterms:created xsi:type="dcterms:W3CDTF">2026-09-01T18:40:00Z</dcterms:created>
  <dcterms:modified xsi:type="dcterms:W3CDTF">2026-10-09T16:10:34Z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1049-12.1.0.28485</vt:lpwstr>
  </property>
  <property fmtid="{D5CDD505-2E9C-101B-9397-08002B2CF9AE}" pid="3" name="ICV">
    <vt:lpwstr>3BB3359F712143D3A2563F2707420178_13</vt:lpwstr>
  </property>
</Properties>
</file>