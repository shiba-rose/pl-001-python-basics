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91" r:id="rId10"/>
    <p:sldId id="292" r:id="rId11"/>
    <p:sldId id="263" r:id="rId12"/>
    <p:sldId id="293" r:id="rId13"/>
    <p:sldId id="264" r:id="rId14"/>
    <p:sldId id="265" r:id="rId15"/>
    <p:sldId id="266" r:id="rId16"/>
    <p:sldId id="296" r:id="rId17"/>
    <p:sldId id="267" r:id="rId18"/>
    <p:sldId id="294" r:id="rId19"/>
    <p:sldId id="268" r:id="rId20"/>
    <p:sldId id="295" r:id="rId21"/>
    <p:sldId id="297" r:id="rId22"/>
    <p:sldId id="269" r:id="rId23"/>
    <p:sldId id="270" r:id="rId24"/>
    <p:sldId id="298" r:id="rId25"/>
    <p:sldId id="299" r:id="rId26"/>
    <p:sldId id="300" r:id="rId27"/>
    <p:sldId id="301" r:id="rId28"/>
    <p:sldId id="273" r:id="rId29"/>
    <p:sldId id="302" r:id="rId30"/>
    <p:sldId id="274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277" r:id="rId41"/>
    <p:sldId id="278" r:id="rId42"/>
    <p:sldId id="312" r:id="rId43"/>
    <p:sldId id="313" r:id="rId44"/>
    <p:sldId id="314" r:id="rId45"/>
    <p:sldId id="280" r:id="rId46"/>
    <p:sldId id="315" r:id="rId47"/>
    <p:sldId id="316" r:id="rId48"/>
    <p:sldId id="317" r:id="rId49"/>
    <p:sldId id="318" r:id="rId50"/>
    <p:sldId id="319" r:id="rId51"/>
    <p:sldId id="320" r:id="rId52"/>
    <p:sldId id="327" r:id="rId53"/>
    <p:sldId id="322" r:id="rId54"/>
    <p:sldId id="323" r:id="rId55"/>
    <p:sldId id="328" r:id="rId56"/>
    <p:sldId id="325" r:id="rId57"/>
    <p:sldId id="326" r:id="rId58"/>
    <p:sldId id="286" r:id="rId59"/>
    <p:sldId id="287" r:id="rId60"/>
    <p:sldId id="288" r:id="rId61"/>
    <p:sldId id="289" r:id="rId62"/>
    <p:sldId id="290" r:id="rId6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7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B683"/>
    <a:srgbClr val="A05900"/>
    <a:srgbClr val="C09D29"/>
    <a:srgbClr val="7030A0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7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8" Type="http://schemas.openxmlformats.org/officeDocument/2006/relationships/commentAuthors" Target="commentAuthors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notesMaster" Target="notesMasters/notesMaster1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ru-RU" smtClean="0"/>
            </a:fld>
            <a:endParaRPr lang="ru-RU"/>
          </a:p>
        </p:txBody>
      </p:sp>
      <p:sp>
        <p:nvSpPr>
          <p:cNvPr id="4" name="Замещающий 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полнитель примечаний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Щелкните, чтобы изменить стиль образца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80" y="2772410"/>
            <a:ext cx="9799320" cy="131318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6048375" y="4392295"/>
            <a:ext cx="4949825" cy="64071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bg>
      <p:bgPr>
        <a:blipFill rotWithShape="1">
          <a:blip r:embed="rId2"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ы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433586" y="278607"/>
            <a:ext cx="11379198" cy="14761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cap="none" baseline="0" dirty="0">
                <a:solidFill>
                  <a:srgbClr val="0072BC"/>
                </a:solidFill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458914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11296612" y="6217622"/>
            <a:ext cx="7315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lang="en-US" sz="138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4226721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7994375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59549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4000" b="0" u="none" strike="noStrike" kern="1200" cap="none" spc="300" normalizeH="0" baseline="0">
          <a:solidFill>
            <a:srgbClr val="0070C0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Числовые типы данных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9060" y="4744720"/>
            <a:ext cx="5819140" cy="640715"/>
          </a:xfrm>
        </p:spPr>
        <p:txBody>
          <a:bodyPr>
            <a:noAutofit/>
          </a:bodyPr>
          <a:lstStyle/>
          <a:p>
            <a:r>
              <a:rPr sz="2200"/>
              <a:t>Докладчик: Евграфов Михаил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/>
              <a:t>Введение</a:t>
            </a:r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Четыре числовых типа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72540" y="2331720"/>
            <a:ext cx="182880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 b="1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endParaRPr sz="2200" b="1">
              <a:solidFill>
                <a:schemeClr val="accent2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72540" y="3355848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sz="16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878580" y="2331720"/>
            <a:ext cx="182880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 b="1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endParaRPr sz="2200" b="1">
              <a:solidFill>
                <a:schemeClr val="accent2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78580" y="3355848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sz="1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84620" y="2331720"/>
            <a:ext cx="182880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 b="1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sz="2200" b="1">
              <a:solidFill>
                <a:schemeClr val="accent2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84620" y="3355848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endParaRPr sz="1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090660" y="2331720"/>
            <a:ext cx="1828800" cy="9144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 b="1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complex</a:t>
            </a:r>
            <a:endParaRPr sz="2200" b="1">
              <a:solidFill>
                <a:schemeClr val="accent2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90660" y="3355848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sz="1600">
                <a:latin typeface="Consolas" panose="020B0609020204030204" charset="0"/>
                <a:cs typeface="Consolas" panose="020B0609020204030204" charset="0"/>
              </a:rPr>
              <a:t> + </a:t>
            </a:r>
            <a:r>
              <a:rPr sz="1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3j</a:t>
            </a:r>
            <a:endParaRPr sz="1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101340" y="2788920"/>
            <a:ext cx="77724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07380" y="2788920"/>
            <a:ext cx="77724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13420" y="2788920"/>
            <a:ext cx="77724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72540" y="4192588"/>
            <a:ext cx="9646920" cy="9531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737373"/>
                </a:solidFill>
              </a:rPr>
              <a:t>каждый следующий тип — расширение предыдущего</a:t>
            </a:r>
            <a:endParaRPr sz="2800" b="0">
              <a:solidFill>
                <a:srgbClr val="73737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24900" y="1865948"/>
            <a:ext cx="256032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737373"/>
                </a:solidFill>
              </a:rPr>
              <a:t>не рассматриваем</a:t>
            </a:r>
            <a:endParaRPr sz="1600" b="0">
              <a:solidFill>
                <a:srgbClr val="737373"/>
              </a:solidFill>
            </a:endParaRPr>
          </a:p>
        </p:txBody>
      </p:sp>
      <p:sp>
        <p:nvSpPr>
          <p:cNvPr id="16" name="Замещающий 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5" grpId="1" animBg="1"/>
      <p:bldP spid="6" grpId="1"/>
      <p:bldP spid="7" grpId="0" animBg="1"/>
      <p:bldP spid="8" grpId="0"/>
      <p:bldP spid="7" grpId="1" animBg="1"/>
      <p:bldP spid="8" grpId="1"/>
      <p:bldP spid="9" grpId="0" animBg="1"/>
      <p:bldP spid="10" grpId="0"/>
      <p:bldP spid="9" grpId="1" animBg="1"/>
      <p:bldP spid="10" grpId="1"/>
      <p:bldP spid="14" grpId="0"/>
      <p:bldP spid="14" grpId="1"/>
      <p:bldP spid="15" grpId="0"/>
      <p:bldP spid="1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Приведение по цепочке типов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965" y="2377440"/>
            <a:ext cx="1048829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(True)</a:t>
            </a:r>
            <a:r>
              <a:rPr sz="4000">
                <a:latin typeface="Consolas" panose="020B0609020204030204" charset="0"/>
                <a:cs typeface="Consolas" panose="020B0609020204030204" charset="0"/>
              </a:rPr>
              <a:t>       </a:t>
            </a:r>
            <a:r>
              <a:rPr sz="4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bool -&gt; int</a:t>
            </a:r>
            <a:endParaRPr sz="40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40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4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sz="4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int -&gt; float</a:t>
            </a:r>
            <a:endParaRPr sz="40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40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complex</a:t>
            </a:r>
            <a:r>
              <a:rPr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4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5.0</a:t>
            </a:r>
            <a:r>
              <a:rPr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4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4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float -&gt; complex</a:t>
            </a:r>
            <a:endParaRPr sz="40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800" y="1850905"/>
            <a:ext cx="9799200" cy="1018800"/>
          </a:xfrm>
        </p:spPr>
        <p:txBody>
          <a:bodyPr/>
          <a:lstStyle/>
          <a:p>
            <a:r>
              <a:t>Целочисленный тип 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>
                <a:sym typeface="+mn-ea"/>
              </a:rPr>
              <a:t>Д</a:t>
            </a:r>
            <a:r>
              <a:rPr>
                <a:sym typeface="+mn-ea"/>
              </a:rPr>
              <a:t>есятичные</a:t>
            </a:r>
            <a:r>
              <a:rPr lang="ru-RU">
                <a:sym typeface="+mn-ea"/>
              </a:rPr>
              <a:t> </a:t>
            </a:r>
            <a:r>
              <a:rPr lang="ru-RU"/>
              <a:t>л</a:t>
            </a:r>
            <a:r>
              <a:t>итералы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965" y="2377440"/>
            <a:ext cx="10488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positive_number</a:t>
            </a:r>
            <a:r>
              <a:rPr sz="36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36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sz="36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sz="3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6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negative_number</a:t>
            </a:r>
            <a:r>
              <a:rPr sz="36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-17</a:t>
            </a:r>
            <a:endParaRPr sz="3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6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million</a:t>
            </a:r>
            <a:r>
              <a:rPr sz="36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36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sz="36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1_000_000</a:t>
            </a:r>
            <a:endParaRPr sz="3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Системы счисления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965" y="1827530"/>
            <a:ext cx="10488295" cy="44869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7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0b1010</a:t>
            </a:r>
            <a:r>
              <a:rPr sz="2700">
                <a:latin typeface="Consolas" panose="020B0609020204030204" charset="0"/>
                <a:cs typeface="Consolas" panose="020B0609020204030204" charset="0"/>
              </a:rPr>
              <a:t>          </a:t>
            </a:r>
            <a:r>
              <a:rPr sz="27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-&gt; 10   (двоичная)</a:t>
            </a:r>
            <a:endParaRPr sz="27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7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0o17</a:t>
            </a:r>
            <a:r>
              <a:rPr sz="2700"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sz="27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-&gt; 15   (восьмеричная)</a:t>
            </a:r>
            <a:endParaRPr sz="27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7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0xFF</a:t>
            </a:r>
            <a:r>
              <a:rPr sz="2700"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sz="27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-&gt; 255  (шестнадцатеричная)</a:t>
            </a:r>
            <a:endParaRPr sz="27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700">
                <a:latin typeface="Consolas" panose="020B0609020204030204" charset="0"/>
                <a:cs typeface="Consolas" panose="020B0609020204030204" charset="0"/>
              </a:rPr>
              <a:t> </a:t>
            </a:r>
            <a:endParaRPr sz="27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7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bin</a:t>
            </a:r>
            <a:r>
              <a:rPr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7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2700">
                <a:latin typeface="Consolas" panose="020B0609020204030204" charset="0"/>
                <a:cs typeface="Consolas" panose="020B0609020204030204" charset="0"/>
              </a:rPr>
              <a:t>         </a:t>
            </a:r>
            <a:r>
              <a:rPr sz="27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'0b1010'</a:t>
            </a:r>
            <a:endParaRPr sz="27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7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oct</a:t>
            </a:r>
            <a:r>
              <a:rPr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7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15</a:t>
            </a:r>
            <a:r>
              <a:rPr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2700">
                <a:latin typeface="Consolas" panose="020B0609020204030204" charset="0"/>
                <a:cs typeface="Consolas" panose="020B0609020204030204" charset="0"/>
              </a:rPr>
              <a:t>         </a:t>
            </a:r>
            <a:r>
              <a:rPr sz="27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'0o17'</a:t>
            </a:r>
            <a:endParaRPr sz="27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7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hex</a:t>
            </a:r>
            <a:r>
              <a:rPr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7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255</a:t>
            </a:r>
            <a:r>
              <a:rPr sz="27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27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sz="27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'0xff'</a:t>
            </a:r>
            <a:endParaRPr sz="27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0" y="1569085"/>
            <a:ext cx="1025461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num_bin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0b2</a:t>
            </a:r>
            <a:endParaRPr lang="en-US" altLang="ru-RU"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SyntaxError: invalid digit '2' in binary literal</a:t>
            </a:r>
            <a:endParaRPr lang="en-US" altLang="ru-RU"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num_oct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0o9</a:t>
            </a:r>
            <a:endParaRPr lang="en-US" altLang="ru-RU"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SyntaxError: invalid digit '9' in octal literal</a:t>
            </a:r>
            <a:endParaRPr lang="en-US" altLang="ru-RU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00101</a:t>
            </a:r>
            <a:endParaRPr lang="en-US" altLang="ru-RU"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SyntaxError: leading zeros in decimal integer literals...</a:t>
            </a:r>
            <a:endParaRPr lang="en-US" altLang="ru-RU"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num_hex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0xG</a:t>
            </a:r>
            <a:endParaRPr lang="en-US" altLang="ru-RU"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SyntaxError: invalid hexadecimal literal</a:t>
            </a:r>
            <a:endParaRPr lang="en-US" altLang="ru-RU"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Ограничения</a:t>
            </a:r>
            <a:endParaRPr lang="ru-RU" dirty="0">
              <a:sym typeface="+mn-ea"/>
            </a:endParaRPr>
          </a:p>
        </p:txBody>
      </p:sp>
      <p:sp>
        <p:nvSpPr>
          <p:cNvPr id="8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0" y="1346200"/>
            <a:ext cx="4624070" cy="4575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25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num_bin</a:t>
            </a:r>
            <a:r>
              <a:rPr lang="en-US" altLang="ru-RU" sz="25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5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5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0b101010</a:t>
            </a:r>
            <a:endParaRPr lang="en-US" altLang="ru-RU" sz="25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5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num_hex</a:t>
            </a:r>
            <a:r>
              <a:rPr lang="en-US" altLang="ru-RU" sz="25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5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5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0x2A</a:t>
            </a:r>
            <a:endParaRPr lang="en-US" altLang="ru-RU" sz="25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5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5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5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25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5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5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num_bin</a:t>
            </a:r>
            <a:r>
              <a:rPr lang="en-US" altLang="ru-RU" sz="25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5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==</a:t>
            </a:r>
            <a:r>
              <a:rPr lang="en-US" altLang="ru-RU" sz="25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5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num_hex</a:t>
            </a:r>
            <a:r>
              <a:rPr lang="en-US" altLang="ru-RU" sz="25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5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5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5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25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"bin: </a:t>
            </a:r>
            <a:r>
              <a:rPr lang="en-US" altLang="ru-RU" sz="25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5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num_bin</a:t>
            </a:r>
            <a:r>
              <a:rPr lang="en-US" altLang="ru-RU" sz="25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25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25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5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5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5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25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"hex: </a:t>
            </a:r>
            <a:r>
              <a:rPr lang="en-US" altLang="ru-RU" sz="25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5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num_hex</a:t>
            </a:r>
            <a:r>
              <a:rPr lang="en-US" altLang="ru-RU" sz="25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25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25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5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5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5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25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5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25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\n"</a:t>
            </a:r>
            <a:r>
              <a:rPr lang="en-US" altLang="ru-RU" sz="25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5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5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5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5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25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5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bin: 42</a:t>
            </a:r>
            <a:endParaRPr lang="en-US" altLang="ru-RU" sz="25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5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hex: 42</a:t>
            </a:r>
            <a:endParaRPr lang="en-US" altLang="ru-RU" sz="25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Замечание</a:t>
            </a:r>
            <a:endParaRPr lang="ru-RU" dirty="0">
              <a:sym typeface="+mn-ea"/>
            </a:endParaRPr>
          </a:p>
        </p:txBody>
      </p:sp>
      <p:sp>
        <p:nvSpPr>
          <p:cNvPr id="8" name="Замещающий номер слайда 4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965" y="1756410"/>
            <a:ext cx="10488295" cy="33451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3.9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3    -- отбрасывает дробь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-3.9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-3   -- к нулю, не round()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1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"42"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42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"1010"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10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"ff"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16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255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int(): выбор системы счисления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80870"/>
            <a:ext cx="470916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Явное основание</a:t>
            </a:r>
            <a:endParaRPr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695575"/>
            <a:ext cx="4434840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2"/>
                </a:solidFill>
                <a:latin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</a:rPr>
              <a:t>"1010"</a:t>
            </a:r>
            <a:r>
              <a:rPr sz="2800">
                <a:latin typeface="Consolas" panose="020B0609020204030204"/>
              </a:rPr>
              <a:t>, </a:t>
            </a:r>
            <a:r>
              <a:rPr sz="2800">
                <a:solidFill>
                  <a:schemeClr val="accent4"/>
                </a:solidFill>
                <a:latin typeface="Consolas" panose="020B0609020204030204"/>
              </a:rPr>
              <a:t>2</a:t>
            </a:r>
            <a:r>
              <a:rPr sz="2800">
                <a:solidFill>
                  <a:schemeClr val="accent1"/>
                </a:solidFill>
                <a:latin typeface="Consolas" panose="020B0609020204030204"/>
              </a:rPr>
              <a:t>)</a:t>
            </a:r>
            <a:r>
              <a:rPr sz="2800">
                <a:latin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</a:rPr>
              <a:t># 10</a:t>
            </a:r>
            <a:endParaRPr sz="2800">
              <a:solidFill>
                <a:schemeClr val="accent4"/>
              </a:solidFill>
              <a:latin typeface="Consolas" panose="020B0609020204030204"/>
            </a:endParaRPr>
          </a:p>
          <a:p>
            <a:r>
              <a:rPr sz="2800">
                <a:solidFill>
                  <a:schemeClr val="accent2"/>
                </a:solidFill>
                <a:latin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</a:rPr>
              <a:t>"17"</a:t>
            </a:r>
            <a:r>
              <a:rPr sz="2800">
                <a:latin typeface="Consolas" panose="020B0609020204030204"/>
              </a:rPr>
              <a:t>, </a:t>
            </a:r>
            <a:r>
              <a:rPr sz="2800">
                <a:solidFill>
                  <a:schemeClr val="accent4"/>
                </a:solidFill>
                <a:latin typeface="Consolas" panose="020B0609020204030204"/>
              </a:rPr>
              <a:t>8</a:t>
            </a:r>
            <a:r>
              <a:rPr sz="2800">
                <a:solidFill>
                  <a:schemeClr val="accent1"/>
                </a:solidFill>
                <a:latin typeface="Consolas" panose="020B0609020204030204"/>
              </a:rPr>
              <a:t>)</a:t>
            </a:r>
            <a:r>
              <a:rPr sz="2800">
                <a:latin typeface="Consolas" panose="020B0609020204030204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/>
              </a:rPr>
              <a:t># 15</a:t>
            </a:r>
            <a:endParaRPr sz="2800">
              <a:solidFill>
                <a:schemeClr val="accent4"/>
              </a:solidFill>
              <a:latin typeface="Consolas" panose="020B0609020204030204"/>
            </a:endParaRPr>
          </a:p>
          <a:p>
            <a:r>
              <a:rPr sz="2800">
                <a:solidFill>
                  <a:schemeClr val="accent2"/>
                </a:solidFill>
                <a:latin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</a:rPr>
              <a:t>"ff"</a:t>
            </a:r>
            <a:r>
              <a:rPr sz="2800">
                <a:latin typeface="Consolas" panose="020B0609020204030204"/>
              </a:rPr>
              <a:t>, </a:t>
            </a:r>
            <a:r>
              <a:rPr sz="2800">
                <a:solidFill>
                  <a:schemeClr val="accent4"/>
                </a:solidFill>
                <a:latin typeface="Consolas" panose="020B0609020204030204"/>
              </a:rPr>
              <a:t>16</a:t>
            </a:r>
            <a:r>
              <a:rPr sz="2800">
                <a:solidFill>
                  <a:schemeClr val="accent1"/>
                </a:solidFill>
                <a:latin typeface="Consolas" panose="020B0609020204030204"/>
              </a:rPr>
              <a:t>)</a:t>
            </a:r>
            <a:r>
              <a:rPr sz="2800">
                <a:latin typeface="Consolas" panose="020B0609020204030204"/>
              </a:rPr>
              <a:t>   </a:t>
            </a:r>
            <a:r>
              <a:rPr sz="2800">
                <a:solidFill>
                  <a:schemeClr val="accent4"/>
                </a:solidFill>
                <a:latin typeface="Consolas" panose="020B0609020204030204"/>
              </a:rPr>
              <a:t># 255</a:t>
            </a:r>
            <a:endParaRPr sz="2800">
              <a:solidFill>
                <a:schemeClr val="accent4"/>
              </a:solidFill>
              <a:latin typeface="Consolas" panose="020B0609020204030204"/>
            </a:endParaRPr>
          </a:p>
          <a:p>
            <a:r>
              <a:rPr sz="2800">
                <a:solidFill>
                  <a:schemeClr val="accent2"/>
                </a:solidFill>
                <a:latin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</a:rPr>
              <a:t>"z"</a:t>
            </a:r>
            <a:r>
              <a:rPr sz="2800">
                <a:latin typeface="Consolas" panose="020B0609020204030204"/>
              </a:rPr>
              <a:t>, </a:t>
            </a:r>
            <a:r>
              <a:rPr sz="2800">
                <a:solidFill>
                  <a:schemeClr val="accent4"/>
                </a:solidFill>
                <a:latin typeface="Consolas" panose="020B0609020204030204"/>
              </a:rPr>
              <a:t>36</a:t>
            </a:r>
            <a:r>
              <a:rPr sz="2800">
                <a:solidFill>
                  <a:schemeClr val="accent1"/>
                </a:solidFill>
                <a:latin typeface="Consolas" panose="020B0609020204030204"/>
              </a:rPr>
              <a:t>)</a:t>
            </a:r>
            <a:r>
              <a:rPr sz="2800">
                <a:latin typeface="Consolas" panose="020B0609020204030204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/>
              </a:rPr>
              <a:t># 35</a:t>
            </a:r>
            <a:endParaRPr sz="2800">
              <a:solidFill>
                <a:schemeClr val="accent4"/>
              </a:solidFill>
              <a:latin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2620" y="5021580"/>
            <a:ext cx="470916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737373"/>
                </a:solidFill>
              </a:rPr>
              <a:t>base от 2 до 36</a:t>
            </a:r>
            <a:endParaRPr sz="2000" b="0">
              <a:solidFill>
                <a:srgbClr val="73737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30340" y="1664653"/>
            <a:ext cx="4709160" cy="9531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Автоопределение по префиксу</a:t>
            </a:r>
            <a:endParaRPr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165" y="3126740"/>
            <a:ext cx="4968875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2"/>
                </a:solidFill>
                <a:latin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</a:rPr>
              <a:t>"0b1010"</a:t>
            </a:r>
            <a:r>
              <a:rPr sz="2800">
                <a:latin typeface="Consolas" panose="020B0609020204030204"/>
              </a:rPr>
              <a:t>, </a:t>
            </a:r>
            <a:r>
              <a:rPr sz="2800">
                <a:solidFill>
                  <a:schemeClr val="accent4"/>
                </a:solidFill>
                <a:latin typeface="Consolas" panose="020B0609020204030204"/>
              </a:rPr>
              <a:t>0</a:t>
            </a:r>
            <a:r>
              <a:rPr sz="2800">
                <a:solidFill>
                  <a:schemeClr val="accent1"/>
                </a:solidFill>
                <a:latin typeface="Consolas" panose="020B0609020204030204"/>
              </a:rPr>
              <a:t>)</a:t>
            </a:r>
            <a:r>
              <a:rPr sz="2800">
                <a:latin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</a:rPr>
              <a:t># 10</a:t>
            </a:r>
            <a:endParaRPr sz="2800">
              <a:solidFill>
                <a:schemeClr val="accent4"/>
              </a:solidFill>
              <a:latin typeface="Consolas" panose="020B0609020204030204"/>
            </a:endParaRPr>
          </a:p>
          <a:p>
            <a:r>
              <a:rPr sz="2800">
                <a:solidFill>
                  <a:schemeClr val="accent2"/>
                </a:solidFill>
                <a:latin typeface="Consolas" panose="020B0609020204030204"/>
              </a:rPr>
              <a:t>int</a:t>
            </a:r>
            <a:r>
              <a:rPr sz="2800">
                <a:solidFill>
                  <a:schemeClr val="accent1"/>
                </a:solidFill>
                <a:latin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</a:rPr>
              <a:t>"0xff"</a:t>
            </a:r>
            <a:r>
              <a:rPr sz="2800">
                <a:latin typeface="Consolas" panose="020B0609020204030204"/>
              </a:rPr>
              <a:t>, </a:t>
            </a:r>
            <a:r>
              <a:rPr sz="2800">
                <a:solidFill>
                  <a:schemeClr val="accent4"/>
                </a:solidFill>
                <a:latin typeface="Consolas" panose="020B0609020204030204"/>
              </a:rPr>
              <a:t>0</a:t>
            </a:r>
            <a:r>
              <a:rPr sz="2800">
                <a:solidFill>
                  <a:schemeClr val="accent1"/>
                </a:solidFill>
                <a:latin typeface="Consolas" panose="020B0609020204030204"/>
              </a:rPr>
              <a:t>)</a:t>
            </a:r>
            <a:r>
              <a:rPr sz="2800">
                <a:latin typeface="Consolas" panose="020B0609020204030204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/>
              </a:rPr>
              <a:t># 255</a:t>
            </a:r>
            <a:endParaRPr sz="2800">
              <a:solidFill>
                <a:schemeClr val="accent4"/>
              </a:solidFill>
              <a:latin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30340" y="5021580"/>
            <a:ext cx="470916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737373"/>
                </a:solidFill>
              </a:rPr>
              <a:t>base=0 -- по 0b / 0o / 0x</a:t>
            </a:r>
            <a:endParaRPr sz="2000" b="0">
              <a:solidFill>
                <a:srgbClr val="737373"/>
              </a:solidFill>
            </a:endParaRPr>
          </a:p>
        </p:txBody>
      </p:sp>
      <p:sp>
        <p:nvSpPr>
          <p:cNvPr id="11" name="Замещающий 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Диапазон значений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0675" y="1864995"/>
            <a:ext cx="2900045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Python: int</a:t>
            </a:r>
            <a:endParaRPr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613025"/>
            <a:ext cx="495173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huge_power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**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1000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никакого overflow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646930"/>
            <a:ext cx="470916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737373"/>
                </a:solidFill>
              </a:rPr>
              <a:t>диапазон не ограничен</a:t>
            </a:r>
            <a:endParaRPr sz="2000" b="0">
              <a:solidFill>
                <a:srgbClr val="73737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59880" y="1864995"/>
            <a:ext cx="470916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C / Java: int</a:t>
            </a:r>
            <a:endParaRPr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34200" y="2613025"/>
            <a:ext cx="443484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x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2000000000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;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x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x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+ 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x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;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// overflow!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59880" y="4646930"/>
            <a:ext cx="470916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737373"/>
                </a:solidFill>
              </a:rPr>
              <a:t>ограничен 32/64 битами</a:t>
            </a:r>
            <a:endParaRPr sz="2000" b="0">
              <a:solidFill>
                <a:srgbClr val="737373"/>
              </a:solidFill>
            </a:endParaRPr>
          </a:p>
        </p:txBody>
      </p:sp>
      <p:sp>
        <p:nvSpPr>
          <p:cNvPr id="11" name="Замещающий 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880" y="1709420"/>
            <a:ext cx="9799320" cy="1993265"/>
          </a:xfrm>
        </p:spPr>
        <p:txBody>
          <a:bodyPr>
            <a:normAutofit fontScale="90000"/>
          </a:bodyPr>
          <a:lstStyle/>
          <a:p>
            <a:r>
              <a:t>Тип с плавающей точкой float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Литералы float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330" y="1712595"/>
            <a:ext cx="10488295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positive_number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negative_number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-0.5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.5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0.5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5.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5.0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1_000.5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1000.5</a:t>
            </a:r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1e3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1000.0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2e-3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0.002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0" y="1510665"/>
            <a:ext cx="795782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num_float1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42.0</a:t>
            </a:r>
            <a:endParaRPr lang="en-US" altLang="ru-RU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num_float2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42.</a:t>
            </a:r>
            <a:endParaRPr lang="en-US" altLang="ru-RU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num_float1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==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num_float2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24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"with part after point</a:t>
            </a:r>
            <a:r>
              <a:rPr lang="en-US" altLang="ru-RU" sz="2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num_float1</a:t>
            </a:r>
            <a:r>
              <a:rPr lang="en-US" altLang="ru-RU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24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24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"without part after point:</a:t>
            </a:r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num_float2</a:t>
            </a:r>
            <a:r>
              <a:rPr lang="en-US" altLang="ru-RU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24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24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4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24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with part after point: 42.0</a:t>
            </a:r>
            <a:endParaRPr lang="en-US" altLang="ru-RU"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without part after point: 42.0</a:t>
            </a:r>
            <a:endParaRPr lang="en-US" altLang="ru-RU"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Эквивалентные литералы</a:t>
            </a:r>
            <a:endParaRPr lang="ru-RU" dirty="0">
              <a:sym typeface="+mn-ea"/>
            </a:endParaRPr>
          </a:p>
        </p:txBody>
      </p:sp>
      <p:sp>
        <p:nvSpPr>
          <p:cNvPr id="15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float()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965" y="1991995"/>
            <a:ext cx="10488295" cy="3007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6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600">
                <a:latin typeface="Consolas" panose="020B0609020204030204" charset="0"/>
                <a:cs typeface="Consolas" panose="020B0609020204030204" charset="0"/>
              </a:rPr>
              <a:t>          </a:t>
            </a:r>
            <a:r>
              <a:rPr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5.0</a:t>
            </a:r>
            <a:endParaRPr sz="3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6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True)</a:t>
            </a:r>
            <a:r>
              <a:rPr sz="3600">
                <a:latin typeface="Consolas" panose="020B0609020204030204" charset="0"/>
                <a:cs typeface="Consolas" panose="020B0609020204030204" charset="0"/>
              </a:rPr>
              <a:t>       </a:t>
            </a:r>
            <a:r>
              <a:rPr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1.0</a:t>
            </a:r>
            <a:endParaRPr sz="3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6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"3.14"</a:t>
            </a:r>
            <a:r>
              <a:rPr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600">
                <a:latin typeface="Consolas" panose="020B0609020204030204" charset="0"/>
                <a:cs typeface="Consolas" panose="020B0609020204030204" charset="0"/>
              </a:rPr>
              <a:t>     </a:t>
            </a:r>
            <a:r>
              <a:rPr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3.14</a:t>
            </a:r>
            <a:endParaRPr sz="3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6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  3.14 "</a:t>
            </a:r>
            <a:r>
              <a:rPr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6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3.14</a:t>
            </a:r>
            <a:endParaRPr sz="3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6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"abc"</a:t>
            </a:r>
            <a:r>
              <a:rPr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600">
                <a:latin typeface="Consolas" panose="020B0609020204030204" charset="0"/>
                <a:cs typeface="Consolas" panose="020B0609020204030204" charset="0"/>
              </a:rPr>
              <a:t>      </a:t>
            </a:r>
            <a:r>
              <a:rPr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ValueError</a:t>
            </a:r>
            <a:endParaRPr sz="3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Ограничения float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330" y="1475105"/>
            <a:ext cx="6003925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sys</a:t>
            </a:r>
            <a:endParaRPr sz="2800">
              <a:solidFill>
                <a:schemeClr val="accent2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sys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float_info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max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~1.7976931348623157e+308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sys</a:t>
            </a:r>
            <a:r>
              <a:rPr sz="2800"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float_info</a:t>
            </a:r>
            <a:r>
              <a:rPr sz="2800"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</a:t>
            </a:r>
            <a:r>
              <a:rPr lang="en-US"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in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~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2.2250738585072014e-308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sys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float_info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epsilon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~2.22e-16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Числовая ось float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71600" y="3108960"/>
            <a:ext cx="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5965" y="2780348"/>
            <a:ext cx="128016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-inf</a:t>
            </a:r>
            <a:endParaRPr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00980" y="2785428"/>
            <a:ext cx="109728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83115" y="2785428"/>
            <a:ext cx="109728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+inf</a:t>
            </a:r>
            <a:endParaRPr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97275" y="5119370"/>
            <a:ext cx="450596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 b="0">
                <a:solidFill>
                  <a:srgbClr val="737373"/>
                </a:solidFill>
              </a:rPr>
              <a:t>NaN</a:t>
            </a:r>
            <a:r>
              <a:rPr sz="2400" b="0">
                <a:solidFill>
                  <a:srgbClr val="737373"/>
                </a:solidFill>
              </a:rPr>
              <a:t> — вне числовой оси</a:t>
            </a:r>
            <a:endParaRPr sz="2400" b="0">
              <a:solidFill>
                <a:srgbClr val="737373"/>
              </a:solidFill>
            </a:endParaRPr>
          </a:p>
        </p:txBody>
      </p:sp>
      <p:sp>
        <p:nvSpPr>
          <p:cNvPr id="10" name="Замещающий 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  <p:cxnSp>
        <p:nvCxnSpPr>
          <p:cNvPr id="13" name="Прямая со стрелкой 12"/>
          <p:cNvCxnSpPr/>
          <p:nvPr/>
        </p:nvCxnSpPr>
        <p:spPr>
          <a:xfrm flipV="1">
            <a:off x="1376045" y="3427730"/>
            <a:ext cx="8947785" cy="190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Прямое соединение 13"/>
          <p:cNvCxnSpPr/>
          <p:nvPr/>
        </p:nvCxnSpPr>
        <p:spPr>
          <a:xfrm>
            <a:off x="2983230" y="3391535"/>
            <a:ext cx="0" cy="7302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Прямое соединение 14"/>
          <p:cNvCxnSpPr/>
          <p:nvPr/>
        </p:nvCxnSpPr>
        <p:spPr>
          <a:xfrm>
            <a:off x="5850255" y="3391535"/>
            <a:ext cx="0" cy="7302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Прямое соединение 15"/>
          <p:cNvCxnSpPr/>
          <p:nvPr/>
        </p:nvCxnSpPr>
        <p:spPr>
          <a:xfrm>
            <a:off x="8743315" y="3391535"/>
            <a:ext cx="0" cy="7302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Текстовое поле 16"/>
          <p:cNvSpPr txBox="1"/>
          <p:nvPr/>
        </p:nvSpPr>
        <p:spPr>
          <a:xfrm>
            <a:off x="1633220" y="3611245"/>
            <a:ext cx="27006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-</a:t>
            </a:r>
            <a:r>
              <a:rPr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sys</a:t>
            </a:r>
            <a:r>
              <a:rPr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float_info</a:t>
            </a:r>
            <a:r>
              <a:rPr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max</a:t>
            </a:r>
            <a:endParaRPr lang="ru-RU" altLang="en-US">
              <a:solidFill>
                <a:srgbClr val="00386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7508240" y="3611245"/>
            <a:ext cx="24701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sys</a:t>
            </a:r>
            <a:r>
              <a:rPr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float_info</a:t>
            </a:r>
            <a:r>
              <a:rPr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max</a:t>
            </a:r>
            <a:endParaRPr lang="ru-RU" altLang="en-US">
              <a:solidFill>
                <a:srgbClr val="003860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5" grpId="1"/>
      <p:bldP spid="7" grpId="1"/>
      <p:bldP spid="9" grpId="0"/>
      <p:bldP spid="9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+inf и -inf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330" y="1659890"/>
            <a:ext cx="10488295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"inf"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inf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"-inf"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-inf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lang="en-US" sz="3200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sz="32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sz="32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32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inf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lang="ru-RU" sz="32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inf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latin typeface="Consolas" panose="020B0609020204030204" charset="0"/>
                <a:cs typeface="Consolas" panose="020B0609020204030204" charset="0"/>
              </a:rPr>
              <a:t>-</a:t>
            </a:r>
            <a:r>
              <a:rPr sz="32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32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inf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ru-RU" sz="32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-inf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9627870" cy="705485"/>
          </a:xfrm>
        </p:spPr>
        <p:txBody>
          <a:bodyPr>
            <a:normAutofit fontScale="90000"/>
          </a:bodyPr>
          <a:lstStyle/>
          <a:p>
            <a:r>
              <a:rPr lang="ru-RU"/>
              <a:t>Бесконечность и переполнение</a:t>
            </a:r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08330" y="2158365"/>
            <a:ext cx="10579735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huge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sys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float_info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max</a:t>
            </a:r>
            <a:endParaRPr sz="2800">
              <a:solidFill>
                <a:srgbClr val="00386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huge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lang="ru-RU"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inf  -- переполнение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-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huge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ru-RU"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-inf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10.0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**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400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OverflowError -- ** ведёт себя иначе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965" y="1454150"/>
            <a:ext cx="10488295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"nan"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ru-RU" sz="2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nan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nan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     </a:t>
            </a:r>
            <a:r>
              <a:rPr lang="ru-RU" sz="28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nan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inf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- </a:t>
            </a:r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inf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ru-RU"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nan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inf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*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        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nan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inf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inf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ru-RU"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nan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value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"nan"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value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== 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value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    </a:t>
            </a:r>
            <a:r>
              <a:rPr lang="ru-RU" sz="2800"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isnan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value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ru-RU" sz="2800"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Логический тип bool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0" y="1387475"/>
            <a:ext cx="3943350" cy="452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var1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var2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var1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 True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var2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 True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var1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var2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2600">
                <a:solidFill>
                  <a:schemeClr val="accent6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6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+mn-ea"/>
              </a:rPr>
              <a:t>True </a:t>
            </a:r>
            <a:r>
              <a:rPr lang="ru-RU" dirty="0">
                <a:sym typeface="+mn-ea"/>
              </a:rPr>
              <a:t>и </a:t>
            </a:r>
            <a:r>
              <a:rPr lang="en-US" dirty="0">
                <a:sym typeface="+mn-ea"/>
              </a:rPr>
              <a:t>False</a:t>
            </a:r>
            <a:endParaRPr lang="en-US" dirty="0">
              <a:sym typeface="+mn-ea"/>
            </a:endParaRPr>
          </a:p>
        </p:txBody>
      </p:sp>
      <p:sp>
        <p:nvSpPr>
          <p:cNvPr id="7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0" y="1231900"/>
            <a:ext cx="3943350" cy="4783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-3.14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(None)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Логические представления</a:t>
            </a:r>
            <a:endParaRPr lang="en-US" dirty="0">
              <a:sym typeface="+mn-ea"/>
            </a:endParaRPr>
          </a:p>
        </p:txBody>
      </p:sp>
      <p:sp>
        <p:nvSpPr>
          <p:cNvPr id="8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 — подтип 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330" y="1753235"/>
            <a:ext cx="10488295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isinstance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(True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sz="32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lang="ru-RU" sz="32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==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lang="ru-RU" sz="3200">
                <a:latin typeface="Consolas" panose="020B0609020204030204" charset="0"/>
                <a:cs typeface="Consolas" panose="020B0609020204030204" charset="0"/>
              </a:rPr>
              <a:t>           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False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==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lang="ru-RU" sz="3200">
                <a:latin typeface="Consolas" panose="020B0609020204030204" charset="0"/>
                <a:cs typeface="Consolas" panose="020B0609020204030204" charset="0"/>
              </a:rPr>
              <a:t>           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+ 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    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2</a:t>
            </a:r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+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       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2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Синглтоны True и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965" y="1683385"/>
            <a:ext cx="10488295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flag_literal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sz="24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flag_from_bool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2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24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flag_from_comparison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&gt; </a:t>
            </a:r>
            <a:r>
              <a:rPr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24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24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sz="24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4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flag_literal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flag_from_bool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,</a:t>
            </a:r>
            <a:endParaRPr sz="24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4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flag_literal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flag_from_comparison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,</a:t>
            </a:r>
            <a:endParaRPr sz="24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sz="24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sz="2400">
                <a:latin typeface="Consolas" panose="020B0609020204030204" charset="0"/>
                <a:cs typeface="Consolas" panose="020B0609020204030204" charset="0"/>
              </a:rPr>
              <a:t>,</a:t>
            </a:r>
            <a:endParaRPr sz="24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sz="24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Хороший тон сравнения с bool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3495" y="1764030"/>
            <a:ext cx="298577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Плохо</a:t>
            </a:r>
            <a:endParaRPr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7560" y="2656205"/>
            <a:ext cx="443484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is_valid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== 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..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is_valid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== 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False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..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26630" y="1764030"/>
            <a:ext cx="298577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Хорошо</a:t>
            </a:r>
            <a:endParaRPr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34200" y="2656205"/>
            <a:ext cx="443484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is_valid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..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is_valid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..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Явные приведения в условиях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2985" y="1704975"/>
            <a:ext cx="319786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Плохо</a:t>
            </a:r>
            <a:endParaRPr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519680"/>
            <a:ext cx="4434840" cy="1951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items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get_items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items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..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6765" y="1704975"/>
            <a:ext cx="353314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Хорошо</a:t>
            </a:r>
            <a:endParaRPr sz="28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34200" y="2519680"/>
            <a:ext cx="4434840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items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get_items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 charset="0"/>
                <a:cs typeface="Consolas" panose="020B0609020204030204" charset="0"/>
              </a:rPr>
              <a:t>items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: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..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.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4270" y="4764218"/>
            <a:ext cx="9448800" cy="8299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737373"/>
                </a:solidFill>
              </a:rPr>
              <a:t>bool() уместен только как самостоятельный результат, а не внутри if/while</a:t>
            </a:r>
            <a:endParaRPr sz="2400" b="0">
              <a:solidFill>
                <a:srgbClr val="737373"/>
              </a:solidFill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Арифметические операции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0" y="1434465"/>
            <a:ext cx="8395335" cy="4813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42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2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"original num: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2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2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"+num: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+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2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+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6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original num: 42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+num: 42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Унарный +</a:t>
            </a:r>
            <a:endParaRPr lang="ru-RU" dirty="0">
              <a:sym typeface="+mn-ea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Унарный </a:t>
            </a:r>
            <a:r>
              <a:rPr lang="en-US" altLang="ru-RU" dirty="0">
                <a:sym typeface="+mn-ea"/>
              </a:rPr>
              <a:t>-</a:t>
            </a:r>
            <a:endParaRPr lang="en-US" altLang="ru-RU" dirty="0">
              <a:sym typeface="+mn-ea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08330" y="1434465"/>
            <a:ext cx="8395335" cy="4813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42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2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"original num: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2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</a:t>
            </a:r>
            <a:r>
              <a:rPr lang="en-US" altLang="ru-RU" sz="2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"-num: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-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}</a:t>
            </a:r>
            <a:r>
              <a:rPr lang="en-US" altLang="ru-RU" sz="2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-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6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original num: 42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-num: -42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0" y="1848485"/>
            <a:ext cx="988568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3.14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+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5    #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сложение</a:t>
            </a:r>
            <a:endParaRPr lang="en-US" altLang="en-US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5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-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3.14    #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вычитание</a:t>
            </a:r>
            <a:endParaRPr lang="en-US" altLang="en-US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3.14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*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5    #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умножение</a:t>
            </a:r>
            <a:endParaRPr lang="en-US" altLang="en-US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5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/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3.14    # </a:t>
            </a:r>
            <a:r>
              <a:rPr lang="ru-RU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истинное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деление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(truediv)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5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//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3.14   #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целая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часть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от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деления</a:t>
            </a:r>
            <a:endParaRPr lang="en-US" altLang="en-US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5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%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3.14    #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остаток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от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деления</a:t>
            </a:r>
            <a:endParaRPr lang="en-US" altLang="en-US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3.14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5   #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возведение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в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степень</a:t>
            </a:r>
            <a:endParaRPr lang="en-US" altLang="en-US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8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>
                <a:sym typeface="+mn-ea"/>
              </a:rPr>
              <a:t>Бинарные арифметические операции</a:t>
            </a:r>
            <a:endParaRPr lang="en-US" altLang="ru-RU" dirty="0">
              <a:sym typeface="+mn-ea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1446104"/>
            <a:ext cx="2939347" cy="4492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1. 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/</a:t>
            </a:r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2.</a:t>
            </a:r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0.5</a:t>
            </a:r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1. 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/</a:t>
            </a:r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</a:t>
            </a:r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0.5</a:t>
            </a:r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 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/</a:t>
            </a:r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2.</a:t>
            </a:r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0.5</a:t>
            </a:r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 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/</a:t>
            </a:r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</a:t>
            </a:r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0.5</a:t>
            </a:r>
            <a:endParaRPr lang="en-US" altLang="ru-RU" sz="2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Деление</a:t>
            </a:r>
            <a:endParaRPr lang="ru-RU" altLang="ru-RU" sz="3600" dirty="0">
              <a:sym typeface="+mn-ea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1610569"/>
            <a:ext cx="2939347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//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1.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//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0.0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//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2.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0.0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1.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//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2.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0.0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-3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//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-2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Целочисленное деление</a:t>
            </a:r>
            <a:endParaRPr lang="ru-RU" altLang="ru-RU" sz="3600" dirty="0">
              <a:sym typeface="+mn-ea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1571199"/>
            <a:ext cx="2939347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%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1.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%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1.0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%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2.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1.0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1.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%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2.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1.0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sym typeface="+mn-ea"/>
              </a:rPr>
              <a:t>Модульное деление</a:t>
            </a:r>
            <a:endParaRPr lang="ru-RU" altLang="ru-RU" sz="3600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560710" y="1700739"/>
            <a:ext cx="8197567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result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x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-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y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*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x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//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y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5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%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-3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-1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-5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%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3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-5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%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-3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-2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>
                <a:sym typeface="+mn-ea"/>
              </a:rPr>
              <a:t>Особенности модульного деления</a:t>
            </a:r>
            <a:endParaRPr lang="ru-RU" altLang="ru-RU" sz="3600" dirty="0">
              <a:sym typeface="+mn-ea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1702054"/>
            <a:ext cx="11223273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/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ZeroDivisionError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 division by zero</a:t>
            </a:r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//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ZeroDivisionError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 integer division or modulo by zero</a:t>
            </a:r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%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2"/>
                </a:solidFill>
                <a:latin typeface="Consolas" panose="020B0609020204030204" charset="0"/>
                <a:cs typeface="Consolas" panose="020B0609020204030204" charset="0"/>
              </a:rPr>
              <a:t>ZeroDivisionError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 integer modulo by zero</a:t>
            </a:r>
            <a:endParaRPr lang="en-US" altLang="ru-RU" sz="28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>
                <a:sym typeface="+mn-ea"/>
              </a:rPr>
              <a:t>Деление на ноль</a:t>
            </a:r>
            <a:endParaRPr lang="ru-RU" altLang="ru-RU" dirty="0">
              <a:sym typeface="+mn-ea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0" y="1576070"/>
            <a:ext cx="7373620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3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8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-3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0.125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2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0.5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1.4142135623730951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-1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**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0.5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6.123233995736766e-17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+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1j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32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ym typeface="+mn-ea"/>
              </a:rPr>
              <a:t>Возведение</a:t>
            </a:r>
            <a:r>
              <a:rPr lang="en-US" altLang="ru-RU" dirty="0">
                <a:sym typeface="+mn-ea"/>
              </a:rPr>
              <a:t> </a:t>
            </a:r>
            <a:r>
              <a:rPr lang="en-US" altLang="en-US" dirty="0">
                <a:sym typeface="+mn-ea"/>
              </a:rPr>
              <a:t>в</a:t>
            </a:r>
            <a:r>
              <a:rPr lang="en-US" altLang="ru-RU" dirty="0">
                <a:sym typeface="+mn-ea"/>
              </a:rPr>
              <a:t> </a:t>
            </a:r>
            <a:r>
              <a:rPr lang="en-US" altLang="en-US" dirty="0">
                <a:sym typeface="+mn-ea"/>
              </a:rPr>
              <a:t>степень</a:t>
            </a:r>
            <a:endParaRPr lang="ru-RU" altLang="ru-RU" dirty="0">
              <a:sym typeface="+mn-ea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Погрешности float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965" y="2178050"/>
            <a:ext cx="9544685" cy="25558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0.1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+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0.2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0.30000000000000004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0.1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+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0.2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==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0.3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   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endParaRPr sz="28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abs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((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0.1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+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0.2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-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0.3</a:t>
            </a:r>
            <a:r>
              <a:rPr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&lt;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1e-9</a:t>
            </a:r>
            <a:r>
              <a:rPr sz="2800"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 -- верно</a:t>
            </a:r>
            <a:endParaRPr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Приведение типов в операциях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965" y="2454910"/>
            <a:ext cx="10488295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r>
              <a:rPr sz="3000">
                <a:latin typeface="Consolas" panose="020B0609020204030204" charset="0"/>
                <a:cs typeface="Consolas" panose="020B0609020204030204" charset="0"/>
              </a:rPr>
              <a:t> + </a:t>
            </a:r>
            <a:r>
              <a:rPr sz="3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sz="3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sz="3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2    -- bool + int -&gt; int</a:t>
            </a:r>
            <a:endParaRPr sz="30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r>
              <a:rPr sz="3000">
                <a:latin typeface="Consolas" panose="020B0609020204030204" charset="0"/>
                <a:cs typeface="Consolas" panose="020B0609020204030204" charset="0"/>
              </a:rPr>
              <a:t> + </a:t>
            </a:r>
            <a:r>
              <a:rPr sz="3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1.0</a:t>
            </a:r>
            <a:r>
              <a:rPr sz="3000">
                <a:latin typeface="Consolas" panose="020B0609020204030204" charset="0"/>
                <a:cs typeface="Consolas" panose="020B0609020204030204" charset="0"/>
              </a:rPr>
              <a:t>      </a:t>
            </a:r>
            <a:r>
              <a:rPr sz="3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2.0  -- bool + float -&gt; float</a:t>
            </a:r>
            <a:endParaRPr sz="30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sz="3000">
                <a:latin typeface="Consolas" panose="020B0609020204030204" charset="0"/>
                <a:cs typeface="Consolas" panose="020B0609020204030204" charset="0"/>
              </a:rPr>
              <a:t> + </a:t>
            </a:r>
            <a:r>
              <a:rPr sz="3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2.0</a:t>
            </a:r>
            <a:r>
              <a:rPr sz="3000">
                <a:latin typeface="Consolas" panose="020B0609020204030204" charset="0"/>
                <a:cs typeface="Consolas" panose="020B0609020204030204" charset="0"/>
              </a:rPr>
              <a:t>         </a:t>
            </a:r>
            <a:r>
              <a:rPr sz="3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3.0  -- int + float -&gt; float</a:t>
            </a:r>
            <a:endParaRPr sz="30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1741671"/>
            <a:ext cx="8392502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без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составного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присваивания</a:t>
            </a:r>
            <a:endParaRPr lang="en-US" altLang="en-US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41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+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   # num == 42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41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+=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        # num == 42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>
                <a:sym typeface="+mn-ea"/>
              </a:rPr>
              <a:t>Составные присваивания</a:t>
            </a:r>
            <a:endParaRPr lang="ru-RU" altLang="ru-RU" dirty="0">
              <a:sym typeface="+mn-ea"/>
            </a:endParaRPr>
          </a:p>
        </p:txBody>
      </p:sp>
      <p:sp>
        <p:nvSpPr>
          <p:cNvPr id="7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1832291"/>
            <a:ext cx="8392502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41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id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# 140710912780328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+=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1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id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# 140710912780360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>
                <a:sym typeface="+mn-ea"/>
              </a:rPr>
              <a:t>Неизменяемость</a:t>
            </a:r>
            <a:endParaRPr lang="ru-RU" altLang="ru-RU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0" y="2258060"/>
            <a:ext cx="93872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переменная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num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не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определена</a:t>
            </a:r>
            <a:endParaRPr lang="en-US" altLang="en-US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+=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NameError: name 'num' is not defined.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>
                <a:sym typeface="+mn-ea"/>
              </a:rPr>
              <a:t>Ограничения</a:t>
            </a:r>
            <a:endParaRPr lang="ru-RU" altLang="ru-RU" dirty="0">
              <a:sym typeface="+mn-ea"/>
            </a:endParaRPr>
          </a:p>
        </p:txBody>
      </p:sp>
      <p:sp>
        <p:nvSpPr>
          <p:cNvPr id="7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6340" y="1846580"/>
            <a:ext cx="9799320" cy="1754505"/>
          </a:xfrm>
        </p:spPr>
        <p:txBody>
          <a:bodyPr/>
          <a:lstStyle/>
          <a:p>
            <a:r>
              <a:rPr sz="4800"/>
              <a:t>Операции сравнения и логические операции</a:t>
            </a:r>
            <a:endParaRPr sz="4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0" y="1377950"/>
            <a:ext cx="5328285" cy="4839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2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2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 False</a:t>
            </a:r>
            <a:r>
              <a:rPr lang="en-US" altLang="ru-RU" sz="20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</a:t>
            </a:r>
            <a:r>
              <a:rPr lang="en-US" altLang="ru-RU" sz="2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r>
              <a:rPr lang="en-US" altLang="ru-RU" sz="20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</a:t>
            </a:r>
            <a:r>
              <a:rPr lang="en-US" altLang="ru-RU" sz="2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-3.14</a:t>
            </a:r>
            <a:r>
              <a:rPr lang="en-US" altLang="ru-RU" sz="20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</a:t>
            </a:r>
            <a:r>
              <a:rPr lang="en-US" altLang="ru-RU" sz="2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20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</a:t>
            </a:r>
            <a:r>
              <a:rPr lang="en-US" altLang="ru-RU" sz="2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0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"nan"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20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</a:t>
            </a:r>
            <a:r>
              <a:rPr lang="en-US" altLang="ru-RU" sz="2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0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"inf"</a:t>
            </a:r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20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20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0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20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20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20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20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20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20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0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20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ym typeface="+mn-ea"/>
              </a:rPr>
              <a:t>not</a:t>
            </a:r>
            <a:endParaRPr lang="en-US" altLang="en-US" dirty="0">
              <a:sym typeface="+mn-ea"/>
            </a:endParaRPr>
          </a:p>
        </p:txBody>
      </p:sp>
      <p:sp>
        <p:nvSpPr>
          <p:cNvPr id="7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1442109"/>
            <a:ext cx="6458177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можно так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is None)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32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32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"num is not None!"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но так лучше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num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 not None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32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32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"num is not None!"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32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 dirty="0">
                <a:sym typeface="+mn-ea"/>
              </a:rPr>
              <a:t>Специальная форма </a:t>
            </a:r>
            <a:r>
              <a:rPr lang="en-US" altLang="en-US" dirty="0">
                <a:sym typeface="+mn-ea"/>
              </a:rPr>
              <a:t>not</a:t>
            </a:r>
            <a:endParaRPr lang="en-US" altLang="en-US" dirty="0">
              <a:sym typeface="+mn-ea"/>
            </a:endParaRPr>
          </a:p>
        </p:txBody>
      </p:sp>
      <p:sp>
        <p:nvSpPr>
          <p:cNvPr id="7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/>
          <p:nvPr/>
        </p:nvGraphicFramePr>
        <p:xfrm>
          <a:off x="1828878" y="1903318"/>
          <a:ext cx="8534400" cy="3155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844800"/>
                <a:gridCol w="2844800"/>
              </a:tblGrid>
              <a:tr h="63119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en-US" sz="2955">
                          <a:latin typeface="Consolas" panose="020B0609020204030204" charset="0"/>
                          <a:cs typeface="Consolas" panose="020B0609020204030204" charset="0"/>
                        </a:rPr>
                        <a:t>x</a:t>
                      </a:r>
                      <a:endParaRPr lang="en-US" altLang="en-US" sz="2955"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latin typeface="Consolas" panose="020B0609020204030204" charset="0"/>
                          <a:cs typeface="Consolas" panose="020B0609020204030204" charset="0"/>
                        </a:rPr>
                        <a:t>y</a:t>
                      </a:r>
                      <a:endParaRPr lang="en-US" altLang="ru-RU" sz="2955"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latin typeface="Consolas" panose="020B0609020204030204" charset="0"/>
                          <a:cs typeface="Consolas" panose="020B0609020204030204" charset="0"/>
                        </a:rPr>
                        <a:t>x and y</a:t>
                      </a:r>
                      <a:endParaRPr lang="en-US" altLang="ru-RU" sz="2955"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</a:tr>
              <a:tr h="63119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False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False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False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</a:tr>
              <a:tr h="63119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False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True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False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</a:tr>
              <a:tr h="63119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True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False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False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</a:tr>
              <a:tr h="63119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True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True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True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</a:tr>
            </a:tbl>
          </a:graphicData>
        </a:graphic>
      </p:graphicFrame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Логическое И</a:t>
            </a:r>
            <a:endParaRPr lang="en-US" altLang="en-US" dirty="0">
              <a:sym typeface="+mn-ea"/>
            </a:endParaRPr>
          </a:p>
        </p:txBody>
      </p:sp>
      <p:sp>
        <p:nvSpPr>
          <p:cNvPr id="8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1313749"/>
            <a:ext cx="6458177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None and False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and </a:t>
            </a:r>
            <a:r>
              <a:rPr lang="en-US" altLang="ru-RU" sz="2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"+inf"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"-inf"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 and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and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3.14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None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0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0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3.14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Оператор </a:t>
            </a:r>
            <a:r>
              <a:rPr lang="en-US" dirty="0">
                <a:sym typeface="+mn-ea"/>
              </a:rPr>
              <a:t>and</a:t>
            </a:r>
            <a:endParaRPr lang="en-US" altLang="en-US" dirty="0">
              <a:sym typeface="+mn-ea"/>
            </a:endParaRPr>
          </a:p>
        </p:txBody>
      </p:sp>
      <p:sp>
        <p:nvSpPr>
          <p:cNvPr id="8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1505499"/>
            <a:ext cx="7964147" cy="4492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do_expensive_computition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6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"compute..."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False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and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do_expensive_computition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26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2600">
              <a:solidFill>
                <a:schemeClr val="tx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ничего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не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будет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напечатано</a:t>
            </a:r>
            <a:endParaRPr lang="en-US" altLang="en-US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 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 and</a:t>
            </a:r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6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do_expensive_computition</a:t>
            </a:r>
            <a:r>
              <a:rPr lang="en-US" altLang="ru-RU" sz="2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6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compute...</a:t>
            </a:r>
            <a:endParaRPr lang="en-US" altLang="ru-RU" sz="26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Пример использования </a:t>
            </a:r>
            <a:r>
              <a:rPr lang="en-US" dirty="0">
                <a:sym typeface="+mn-ea"/>
              </a:rPr>
              <a:t>and</a:t>
            </a:r>
            <a:endParaRPr lang="en-US" altLang="en-US" dirty="0">
              <a:sym typeface="+mn-ea"/>
            </a:endParaRPr>
          </a:p>
        </p:txBody>
      </p:sp>
      <p:sp>
        <p:nvSpPr>
          <p:cNvPr id="8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/>
          <p:nvPr/>
        </p:nvGraphicFramePr>
        <p:xfrm>
          <a:off x="1828878" y="1903318"/>
          <a:ext cx="8534400" cy="3155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844800"/>
                <a:gridCol w="2844800"/>
              </a:tblGrid>
              <a:tr h="63119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en-US" sz="2955">
                          <a:latin typeface="Consolas" panose="020B0609020204030204" charset="0"/>
                          <a:cs typeface="Consolas" panose="020B0609020204030204" charset="0"/>
                        </a:rPr>
                        <a:t>x</a:t>
                      </a:r>
                      <a:endParaRPr lang="en-US" altLang="en-US" sz="2955"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latin typeface="Consolas" panose="020B0609020204030204" charset="0"/>
                          <a:cs typeface="Consolas" panose="020B0609020204030204" charset="0"/>
                        </a:rPr>
                        <a:t>y</a:t>
                      </a:r>
                      <a:endParaRPr lang="en-US" altLang="ru-RU" sz="2955"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latin typeface="Consolas" panose="020B0609020204030204" charset="0"/>
                          <a:cs typeface="Consolas" panose="020B0609020204030204" charset="0"/>
                        </a:rPr>
                        <a:t>x or y</a:t>
                      </a:r>
                      <a:endParaRPr lang="en-US" altLang="ru-RU" sz="2955"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</a:tr>
              <a:tr h="63119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False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False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False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</a:tr>
              <a:tr h="63119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False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True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True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</a:tr>
              <a:tr h="63119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True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False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True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</a:tr>
              <a:tr h="63119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True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True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ru-RU" sz="2955">
                          <a:solidFill>
                            <a:schemeClr val="accent1"/>
                          </a:solidFill>
                          <a:latin typeface="Consolas" panose="020B0609020204030204" charset="0"/>
                          <a:cs typeface="Consolas" panose="020B0609020204030204" charset="0"/>
                        </a:rPr>
                        <a:t>True</a:t>
                      </a:r>
                      <a:endParaRPr lang="en-US" altLang="ru-RU" sz="2955">
                        <a:solidFill>
                          <a:schemeClr val="accent1"/>
                        </a:solidFill>
                        <a:latin typeface="Consolas" panose="020B0609020204030204" charset="0"/>
                        <a:cs typeface="Consolas" panose="020B0609020204030204" charset="0"/>
                      </a:endParaRPr>
                    </a:p>
                  </a:txBody>
                  <a:tcPr marL="45057" marR="45057" marT="22528" marB="22528"/>
                </a:tc>
              </a:tr>
            </a:tbl>
          </a:graphicData>
        </a:graphic>
      </p:graphicFrame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Логическое ИЛИ</a:t>
            </a:r>
            <a:endParaRPr lang="en-US" altLang="en-US" dirty="0">
              <a:sym typeface="+mn-ea"/>
            </a:endParaRPr>
          </a:p>
        </p:txBody>
      </p:sp>
      <p:sp>
        <p:nvSpPr>
          <p:cNvPr id="8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1313749"/>
            <a:ext cx="6458177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None or False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,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0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or </a:t>
            </a:r>
            <a:r>
              <a:rPr lang="en-US" altLang="ru-RU" sz="2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float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"+inf"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,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2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float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"-inf"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 or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0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,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42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or </a:t>
            </a:r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3.14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,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</a:t>
            </a:r>
            <a:r>
              <a:rPr lang="en-US" altLang="ru-RU" sz="2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sep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"\n"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,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False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inf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-inf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# 42</a:t>
            </a:r>
            <a:endParaRPr lang="en-US" altLang="ru-RU" sz="2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ym typeface="+mn-ea"/>
              </a:rPr>
              <a:t>Оператор </a:t>
            </a:r>
            <a:r>
              <a:rPr lang="en-US" dirty="0">
                <a:sym typeface="+mn-ea"/>
              </a:rPr>
              <a:t>or</a:t>
            </a:r>
            <a:endParaRPr lang="en-US" altLang="en-US" dirty="0">
              <a:sym typeface="+mn-ea"/>
            </a:endParaRPr>
          </a:p>
        </p:txBody>
      </p:sp>
      <p:sp>
        <p:nvSpPr>
          <p:cNvPr id="8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1938243"/>
            <a:ext cx="6458177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42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==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1337  # False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42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!=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1337  # True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42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1337   # False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42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&lt;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1337   # True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42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&gt;=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1337  # False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42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&lt;=</a:t>
            </a:r>
            <a:r>
              <a:rPr lang="en-US" alt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1337  # True</a:t>
            </a:r>
            <a:endParaRPr lang="en-US" altLang="ru-RU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sym typeface="+mn-ea"/>
              </a:rPr>
              <a:t>Операции</a:t>
            </a:r>
            <a:r>
              <a:rPr lang="en-US" altLang="ru-RU" dirty="0">
                <a:sym typeface="+mn-ea"/>
              </a:rPr>
              <a:t> </a:t>
            </a:r>
            <a:r>
              <a:rPr lang="en-US" altLang="en-US" dirty="0">
                <a:sym typeface="+mn-ea"/>
              </a:rPr>
              <a:t>сравнения</a:t>
            </a:r>
            <a:endParaRPr lang="en-US" altLang="en-US" dirty="0">
              <a:sym typeface="+mn-ea"/>
            </a:endParaRPr>
          </a:p>
        </p:txBody>
      </p:sp>
      <p:sp>
        <p:nvSpPr>
          <p:cNvPr id="8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1693415"/>
            <a:ext cx="6458177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1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&lt;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2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&lt;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3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&lt;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4 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1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&lt;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2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3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False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1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1.0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1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is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1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 ==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1.0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endParaRPr lang="en-US" altLang="ru-RU" sz="32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 dirty="0">
                <a:sym typeface="+mn-ea"/>
              </a:rPr>
              <a:t>Цепочки операций</a:t>
            </a:r>
            <a:endParaRPr lang="en-US" altLang="en-US" dirty="0">
              <a:sym typeface="+mn-ea"/>
            </a:endParaRPr>
          </a:p>
        </p:txBody>
      </p:sp>
      <p:sp>
        <p:nvSpPr>
          <p:cNvPr id="8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0" y="1693545"/>
            <a:ext cx="9179560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&gt;&gt;&gt;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1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&lt;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2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and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2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&lt;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3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and 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&lt;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4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True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&gt;&gt;&gt;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1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&lt;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2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and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2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&gt;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3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False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&gt;&gt;&gt;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1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1.0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and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1.0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True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True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&gt;&gt;&gt;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1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is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1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and 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1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1.0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and 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1.0 </a:t>
            </a:r>
            <a:r>
              <a:rPr lang="en-US" altLang="ru-RU" sz="32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==</a:t>
            </a:r>
            <a:r>
              <a:rPr lang="en-US" altLang="ru-RU" sz="32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True</a:t>
            </a:r>
            <a:endParaRPr lang="en-US" altLang="ru-RU" sz="32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True</a:t>
            </a:r>
            <a:endParaRPr lang="en-US" altLang="ru-RU" sz="32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en-US" dirty="0">
                <a:sym typeface="+mn-ea"/>
              </a:rPr>
              <a:t>Эквиваленты</a:t>
            </a:r>
            <a:endParaRPr lang="en-US" altLang="en-US" dirty="0">
              <a:sym typeface="+mn-ea"/>
            </a:endParaRPr>
          </a:p>
        </p:txBody>
      </p:sp>
      <p:sp>
        <p:nvSpPr>
          <p:cNvPr id="8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2274172"/>
            <a:ext cx="8392502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en-US" altLang="en-US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не</a:t>
            </a:r>
            <a:r>
              <a:rPr lang="en-US" altLang="ru-RU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будет</a:t>
            </a:r>
            <a:r>
              <a:rPr lang="en-US" altLang="ru-RU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ZeroDivisionError</a:t>
            </a:r>
            <a:endParaRPr lang="en-US" altLang="ru-RU" sz="36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&gt;&gt;&gt;</a:t>
            </a:r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&gt;</a:t>
            </a:r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&lt;</a:t>
            </a:r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(</a:t>
            </a:r>
            <a:r>
              <a:rPr lang="en-US" altLang="ru-RU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6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//</a:t>
            </a:r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36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36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36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False</a:t>
            </a:r>
            <a:endParaRPr lang="en-US" altLang="ru-RU" sz="36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>
                <a:sym typeface="+mn-ea"/>
              </a:rPr>
              <a:t>Вывод</a:t>
            </a:r>
            <a:endParaRPr lang="en-US" altLang="en-US" dirty="0">
              <a:sym typeface="+mn-ea"/>
            </a:endParaRPr>
          </a:p>
        </p:txBody>
      </p:sp>
      <p:sp>
        <p:nvSpPr>
          <p:cNvPr id="8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овое поле 5"/>
          <p:cNvSpPr txBox="1"/>
          <p:nvPr/>
        </p:nvSpPr>
        <p:spPr>
          <a:xfrm>
            <a:off x="608335" y="1583851"/>
            <a:ext cx="8392502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compute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None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"compute"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2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True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==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compute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&lt;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compute</a:t>
            </a:r>
            <a:endParaRPr lang="en-US" altLang="ru-RU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==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compute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 and </a:t>
            </a:r>
            <a:r>
              <a:rPr lang="en-US" altLang="ru-RU" sz="2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compute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 </a:t>
            </a:r>
            <a:r>
              <a:rPr lang="en-US" altLang="ru-RU" sz="2800">
                <a:solidFill>
                  <a:schemeClr val="tx1"/>
                </a:solidFill>
                <a:latin typeface="Consolas" panose="020B0609020204030204" charset="0"/>
                <a:cs typeface="Consolas" panose="020B0609020204030204" charset="0"/>
              </a:rPr>
              <a:t>&lt;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2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2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compute</a:t>
            </a:r>
            <a:endParaRPr lang="en-US" altLang="ru-RU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2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compute</a:t>
            </a:r>
            <a:endParaRPr lang="en-US" altLang="ru-RU" sz="2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4000" b="0" u="none" strike="noStrike" kern="1200" cap="none" spc="300" normalizeH="0" baseline="0">
                <a:solidFill>
                  <a:srgbClr val="0070C0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>
                <a:sym typeface="+mn-ea"/>
              </a:rPr>
              <a:t>Мотивация использования</a:t>
            </a:r>
            <a:endParaRPr lang="en-US" altLang="en-US" dirty="0">
              <a:sym typeface="+mn-ea"/>
            </a:endParaRPr>
          </a:p>
        </p:txBody>
      </p:sp>
      <p:sp>
        <p:nvSpPr>
          <p:cNvPr id="8" name="Замещающий номер слайда 3"/>
          <p:cNvSpPr>
            <a:spLocks noGrp="1"/>
          </p:cNvSpPr>
          <p:nvPr/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800" y="1824870"/>
            <a:ext cx="9799200" cy="1018800"/>
          </a:xfrm>
        </p:spPr>
        <p:txBody>
          <a:bodyPr/>
          <a:lstStyle/>
          <a:p>
            <a:r>
              <a:t> abs() и round()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abs() — модуль числа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965" y="2130425"/>
            <a:ext cx="10488295" cy="27724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abs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5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abs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-5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5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abs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-3.14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3.14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latin typeface="Consolas" panose="020B0609020204030204" charset="0"/>
                <a:cs typeface="Consolas" panose="020B0609020204030204" charset="0"/>
              </a:rPr>
              <a:t> </a:t>
            </a:r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distance 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abs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7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-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5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round() — округление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330" y="2022475"/>
            <a:ext cx="10488295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round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3.2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3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round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-3.8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-4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latin typeface="Consolas" panose="020B0609020204030204" charset="0"/>
                <a:cs typeface="Consolas" panose="020B0609020204030204" charset="0"/>
              </a:rPr>
              <a:t> </a:t>
            </a:r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round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3.14159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3.14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round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1234.5678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-2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1200.0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round(): к ближайшему чётному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43940" y="2614295"/>
            <a:ext cx="960120" cy="7772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0.5</a:t>
            </a:r>
            <a:endParaRPr sz="1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2004060" y="2998343"/>
            <a:ext cx="4572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461260" y="2614295"/>
            <a:ext cx="868680" cy="7772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endParaRPr sz="1800" b="1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9980" y="2614295"/>
            <a:ext cx="960120" cy="7772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1.5</a:t>
            </a:r>
            <a:endParaRPr sz="1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4610100" y="2998343"/>
            <a:ext cx="4572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67300" y="2614295"/>
            <a:ext cx="868680" cy="7772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endParaRPr sz="1800" b="1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56020" y="2614295"/>
            <a:ext cx="960120" cy="7772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2.5</a:t>
            </a:r>
            <a:endParaRPr sz="1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7216140" y="2998343"/>
            <a:ext cx="4572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673340" y="2614295"/>
            <a:ext cx="868680" cy="7772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endParaRPr sz="1800" b="1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862060" y="2614295"/>
            <a:ext cx="960120" cy="7772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3.5</a:t>
            </a:r>
            <a:endParaRPr sz="18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9822180" y="2998343"/>
            <a:ext cx="457200" cy="0"/>
          </a:xfrm>
          <a:prstGeom prst="line">
            <a:avLst/>
          </a:prstGeom>
          <a:ln w="19050"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279380" y="2614295"/>
            <a:ext cx="868680" cy="77724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</a:t>
            </a:r>
            <a:endParaRPr sz="1800" b="1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3940" y="3664268"/>
            <a:ext cx="1010412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737373"/>
                </a:solidFill>
              </a:rPr>
              <a:t>0 и 2 и 4 — чётные, поэтому округление идёт к ним</a:t>
            </a:r>
            <a:endParaRPr sz="2400" b="0">
              <a:solidFill>
                <a:srgbClr val="737373"/>
              </a:solidFill>
            </a:endParaRPr>
          </a:p>
        </p:txBody>
      </p:sp>
      <p:sp>
        <p:nvSpPr>
          <p:cNvPr id="16" name="Замещающий 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065" y="2772410"/>
            <a:ext cx="10389870" cy="1313180"/>
          </a:xfrm>
        </p:spPr>
        <p:txBody>
          <a:bodyPr>
            <a:normAutofit fontScale="90000"/>
          </a:bodyPr>
          <a:lstStyle/>
          <a:p>
            <a:r>
              <a:t>Спасибо за внимание!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python-dep">
      <a:dk1>
        <a:srgbClr val="000000"/>
      </a:dk1>
      <a:lt1>
        <a:srgbClr val="FFFFFF"/>
      </a:lt1>
      <a:dk2>
        <a:srgbClr val="AFABAB"/>
      </a:dk2>
      <a:lt2>
        <a:srgbClr val="E7E6E6"/>
      </a:lt2>
      <a:accent1>
        <a:srgbClr val="0070C0"/>
      </a:accent1>
      <a:accent2>
        <a:srgbClr val="00B0F0"/>
      </a:accent2>
      <a:accent3>
        <a:srgbClr val="C09D29"/>
      </a:accent3>
      <a:accent4>
        <a:srgbClr val="7CB683"/>
      </a:accent4>
      <a:accent5>
        <a:srgbClr val="A05900"/>
      </a:accent5>
      <a:accent6>
        <a:srgbClr val="7030A0"/>
      </a:accent6>
      <a:hlink>
        <a:srgbClr val="0070C0"/>
      </a:hlink>
      <a:folHlink>
        <a:srgbClr val="7030A0"/>
      </a:folHlink>
    </a:clrScheme>
    <a:fontScheme name="python-department">
      <a:majorFont>
        <a:latin typeface="Arial Black"/>
        <a:ea typeface="Arial"/>
        <a:cs typeface=""/>
      </a:majorFont>
      <a:minorFont>
        <a:latin typeface="Arial Black"/>
        <a:ea typeface="Ari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7700</Words>
  <Application>WPS Presentation</Application>
  <PresentationFormat>Широкоэкранный</PresentationFormat>
  <Paragraphs>788</Paragraphs>
  <Slides>61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5" baseType="lpstr">
      <vt:lpstr>Arial</vt:lpstr>
      <vt:lpstr>SimSun</vt:lpstr>
      <vt:lpstr>Wingdings</vt:lpstr>
      <vt:lpstr>Wingdings</vt:lpstr>
      <vt:lpstr>Arial Black</vt:lpstr>
      <vt:lpstr>Tahoma</vt:lpstr>
      <vt:lpstr>Arial</vt:lpstr>
      <vt:lpstr>Segoe UI</vt:lpstr>
      <vt:lpstr>Consolas</vt:lpstr>
      <vt:lpstr>Microsoft YaHei</vt:lpstr>
      <vt:lpstr>Arial Unicode MS</vt:lpstr>
      <vt:lpstr>Calibri</vt:lpstr>
      <vt:lpstr>Consolas</vt:lpstr>
      <vt:lpstr>WPS</vt:lpstr>
      <vt:lpstr>Числовые типы данных</vt:lpstr>
      <vt:lpstr>Введение</vt:lpstr>
      <vt:lpstr>Четыре числовых типа</vt:lpstr>
      <vt:lpstr>Приведение по цепочке типов</vt:lpstr>
      <vt:lpstr>Целочисленный тип int</vt:lpstr>
      <vt:lpstr>Десятичные литералы</vt:lpstr>
      <vt:lpstr>Системы счисления</vt:lpstr>
      <vt:lpstr>PowerPoint 演示文稿</vt:lpstr>
      <vt:lpstr>PowerPoint 演示文稿</vt:lpstr>
      <vt:lpstr>int()</vt:lpstr>
      <vt:lpstr>int(): выбор системы счисления</vt:lpstr>
      <vt:lpstr>Диапазон значений</vt:lpstr>
      <vt:lpstr>Тип с плавающей точкой float</vt:lpstr>
      <vt:lpstr>Литералы float</vt:lpstr>
      <vt:lpstr>PowerPoint 演示文稿</vt:lpstr>
      <vt:lpstr>float()</vt:lpstr>
      <vt:lpstr>Ограничения float</vt:lpstr>
      <vt:lpstr>Числовая ось float</vt:lpstr>
      <vt:lpstr>+inf и -inf</vt:lpstr>
      <vt:lpstr>Бесконечность и переполнение</vt:lpstr>
      <vt:lpstr>nan</vt:lpstr>
      <vt:lpstr>Логический тип bool</vt:lpstr>
      <vt:lpstr>PowerPoint 演示文稿</vt:lpstr>
      <vt:lpstr>PowerPoint 演示文稿</vt:lpstr>
      <vt:lpstr>bool — подтип int</vt:lpstr>
      <vt:lpstr>Синглтоны True и False</vt:lpstr>
      <vt:lpstr>Хороший тон: сравнения с bool</vt:lpstr>
      <vt:lpstr>Явные приведения в условиях</vt:lpstr>
      <vt:lpstr>Арифметические операции</vt:lpstr>
      <vt:lpstr>Явные приведения в условиях</vt:lpstr>
      <vt:lpstr>Унарный -</vt:lpstr>
      <vt:lpstr>Бинарные арифметические операции</vt:lpstr>
      <vt:lpstr>Деление</vt:lpstr>
      <vt:lpstr>Целочисленное деление</vt:lpstr>
      <vt:lpstr>Модульное деление</vt:lpstr>
      <vt:lpstr>Особенности модульного деления</vt:lpstr>
      <vt:lpstr>Деление на ноль</vt:lpstr>
      <vt:lpstr>Возведение в степень</vt:lpstr>
      <vt:lpstr>Погрешности float</vt:lpstr>
      <vt:lpstr>Приведение типов в операциях</vt:lpstr>
      <vt:lpstr>Приведение типов в операциях</vt:lpstr>
      <vt:lpstr>Объяснение</vt:lpstr>
      <vt:lpstr>Ограничения</vt:lpstr>
      <vt:lpstr>Операции сравнения и логические операции</vt:lpstr>
      <vt:lpstr>Операции сравнения</vt:lpstr>
      <vt:lpstr>Специальная форма not</vt:lpstr>
      <vt:lpstr>Логическое И</vt:lpstr>
      <vt:lpstr>Оператор and</vt:lpstr>
      <vt:lpstr>Пример использования and</vt:lpstr>
      <vt:lpstr>Логическое ИЛИ</vt:lpstr>
      <vt:lpstr>PowerPoint 演示文稿</vt:lpstr>
      <vt:lpstr>Операции сравнения</vt:lpstr>
      <vt:lpstr>Цепочки операций</vt:lpstr>
      <vt:lpstr>PowerPoint 演示文稿</vt:lpstr>
      <vt:lpstr>Вывод</vt:lpstr>
      <vt:lpstr>Мотивация использования</vt:lpstr>
      <vt:lpstr>Встроенные функции abs() и round()</vt:lpstr>
      <vt:lpstr>abs() — модуль числа</vt:lpstr>
      <vt:lpstr>round() — округление</vt:lpstr>
      <vt:lpstr>round(): к ближайшему чётному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Пустая презентация</dc:title>
  <dc:creator>Michail</dc:creator>
  <cp:lastModifiedBy>Michail Evgrafov</cp:lastModifiedBy>
  <cp:revision>705</cp:revision>
  <dcterms:created xsi:type="dcterms:W3CDTF">2026-09-01T18:40:00Z</dcterms:created>
  <dcterms:modified xsi:type="dcterms:W3CDTF">2026-09-18T16:02:18Z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1049-12.1.0.28485</vt:lpwstr>
  </property>
  <property fmtid="{D5CDD505-2E9C-101B-9397-08002B2CF9AE}" pid="3" name="ICV">
    <vt:lpwstr>3BB3359F712143D3A2563F2707420178_13</vt:lpwstr>
  </property>
</Properties>
</file>